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0BC963-CE41-4503-F910-C5B6932A4E65}">
          <p14:sldIdLst>
            <p14:sldId id="256"/>
            <p14:sldId id="257"/>
            <p14:sldId id="258"/>
          </p14:sldIdLst>
        </p14:section>
        <p14:section name="Findings" id="{3CA0AA42-C573-0023-366C-6F88F5B325F0}">
          <p14:sldIdLst>
            <p14:sldId id="259"/>
            <p14:sldId id="260"/>
            <p14:sldId id="261"/>
            <p14:sldId id="262"/>
            <p14:sldId id="263"/>
            <p14:sldId id="264"/>
          </p14:sldIdLst>
        </p14:section>
        <p14:section name="Wrap-up" id="{5639AE50-F9DD-5875-B9C5-5DA880283909}">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B38C"/>
    <a:srgbClr val="B98080"/>
    <a:srgbClr val="3D0A10"/>
    <a:srgbClr val="5A0F14"/>
    <a:srgbClr val="E8D3C0"/>
    <a:srgbClr val="B544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10"/>
  </p:normalViewPr>
  <p:slideViewPr>
    <p:cSldViewPr snapToGrid="0" snapToObjects="1">
      <p:cViewPr varScale="1">
        <p:scale>
          <a:sx n="127" d="100"/>
          <a:sy n="127" d="100"/>
        </p:scale>
        <p:origin x="2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A3F46"/>
                </a:solidFill>
                <a:latin typeface="+mn-lt"/>
              </a:defRPr>
            </a:pPr>
            <a:r>
              <a:rPr lang="en-US" sz="1200" b="0" i="0" u="none" strike="noStrike" dirty="0">
                <a:solidFill>
                  <a:srgbClr val="3D0A10"/>
                </a:solidFill>
                <a:latin typeface="+mn-lt"/>
              </a:rPr>
              <a:t>Order status (209 orders)</a:t>
            </a:r>
          </a:p>
        </c:rich>
      </c:tx>
      <c:overlay val="0"/>
    </c:title>
    <c:autoTitleDeleted val="0"/>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5A0F14"/>
              </a:solidFill>
              <a:ln>
                <a:noFill/>
              </a:ln>
              <a:effectLst/>
            </c:spPr>
            <c:extLst>
              <c:ext xmlns:c16="http://schemas.microsoft.com/office/drawing/2014/chart" uri="{C3380CC4-5D6E-409C-BE32-E72D297353CC}">
                <c16:uniqueId val="{00000001-C23B-45BD-A7BF-F0D0025A144C}"/>
              </c:ext>
            </c:extLst>
          </c:dPt>
          <c:dPt>
            <c:idx val="1"/>
            <c:bubble3D val="0"/>
            <c:spPr>
              <a:solidFill>
                <a:srgbClr val="B98080"/>
              </a:solidFill>
              <a:ln>
                <a:noFill/>
              </a:ln>
              <a:effectLst/>
            </c:spPr>
            <c:extLst>
              <c:ext xmlns:c16="http://schemas.microsoft.com/office/drawing/2014/chart" uri="{C3380CC4-5D6E-409C-BE32-E72D297353CC}">
                <c16:uniqueId val="{00000003-C23B-45BD-A7BF-F0D0025A144C}"/>
              </c:ext>
            </c:extLst>
          </c:dPt>
          <c:dPt>
            <c:idx val="2"/>
            <c:bubble3D val="0"/>
            <c:spPr>
              <a:solidFill>
                <a:srgbClr val="D9B38C"/>
              </a:solidFill>
              <a:ln>
                <a:noFill/>
              </a:ln>
              <a:effectLst/>
            </c:spPr>
            <c:extLst>
              <c:ext xmlns:c16="http://schemas.microsoft.com/office/drawing/2014/chart" uri="{C3380CC4-5D6E-409C-BE32-E72D297353CC}">
                <c16:uniqueId val="{00000005-C23B-45BD-A7BF-F0D0025A144C}"/>
              </c:ext>
            </c:extLst>
          </c:dPt>
          <c:dLbls>
            <c:dLbl>
              <c:idx val="0"/>
              <c:numFmt formatCode="0%" sourceLinked="0"/>
              <c:spPr/>
              <c:txPr>
                <a:bodyPr/>
                <a:lstStyle/>
                <a:p>
                  <a:pPr>
                    <a:defRPr sz="12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23B-45BD-A7BF-F0D0025A144C}"/>
                </c:ext>
              </c:extLst>
            </c:dLbl>
            <c:dLbl>
              <c:idx val="1"/>
              <c:numFmt formatCode="0%" sourceLinked="0"/>
              <c:spPr/>
              <c:txPr>
                <a:bodyPr/>
                <a:lstStyle/>
                <a:p>
                  <a:pPr>
                    <a:defRPr sz="12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23B-45BD-A7BF-F0D0025A144C}"/>
                </c:ext>
              </c:extLst>
            </c:dLbl>
            <c:dLbl>
              <c:idx val="2"/>
              <c:numFmt formatCode="0%" sourceLinked="0"/>
              <c:spPr/>
              <c:txPr>
                <a:bodyPr/>
                <a:lstStyle/>
                <a:p>
                  <a:pPr>
                    <a:defRPr sz="12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23B-45BD-A7BF-F0D0025A144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Completed</c:v>
                </c:pt>
                <c:pt idx="1">
                  <c:v>Pending</c:v>
                </c:pt>
                <c:pt idx="2">
                  <c:v>Cancelled</c:v>
                </c:pt>
              </c:strCache>
            </c:strRef>
          </c:cat>
          <c:val>
            <c:numRef>
              <c:f>Sheet1!$B$2:$B$4</c:f>
              <c:numCache>
                <c:formatCode>General</c:formatCode>
                <c:ptCount val="3"/>
                <c:pt idx="0">
                  <c:v>163</c:v>
                </c:pt>
                <c:pt idx="1">
                  <c:v>42</c:v>
                </c:pt>
                <c:pt idx="2">
                  <c:v>4</c:v>
                </c:pt>
              </c:numCache>
            </c:numRef>
          </c:val>
          <c:extLst>
            <c:ext xmlns:c16="http://schemas.microsoft.com/office/drawing/2014/chart" uri="{C3380CC4-5D6E-409C-BE32-E72D297353CC}">
              <c16:uniqueId val="{00000006-C23B-45BD-A7BF-F0D0025A144C}"/>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2A3F4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A3F46"/>
                </a:solidFill>
                <a:latin typeface="+mn-lt"/>
              </a:defRPr>
            </a:pPr>
            <a:r>
              <a:rPr lang="en-US" sz="1200" b="0" i="0" u="none" strike="noStrike" dirty="0">
                <a:solidFill>
                  <a:srgbClr val="3D0A10"/>
                </a:solidFill>
                <a:latin typeface="+mn-lt"/>
              </a:rPr>
              <a:t>Top 10 customers by purchase value</a:t>
            </a:r>
          </a:p>
        </c:rich>
      </c:tx>
      <c:overlay val="0"/>
    </c:title>
    <c:autoTitleDeleted val="0"/>
    <c:plotArea>
      <c:layout>
        <c:manualLayout>
          <c:layoutTarget val="inner"/>
          <c:xMode val="edge"/>
          <c:yMode val="edge"/>
          <c:x val="0.18938459739946303"/>
          <c:y val="0.1259645061728395"/>
          <c:w val="0.77230122635532628"/>
          <c:h val="0.82388117283950613"/>
        </c:manualLayout>
      </c:layout>
      <c:barChart>
        <c:barDir val="bar"/>
        <c:grouping val="clustered"/>
        <c:varyColors val="0"/>
        <c:ser>
          <c:idx val="0"/>
          <c:order val="0"/>
          <c:tx>
            <c:strRef>
              <c:f>Sheet1!$B$1</c:f>
              <c:strCache>
                <c:ptCount val="1"/>
                <c:pt idx="0">
                  <c:v>Series</c:v>
                </c:pt>
              </c:strCache>
            </c:strRef>
          </c:tx>
          <c:spPr>
            <a:solidFill>
              <a:srgbClr val="5A0F14"/>
            </a:solidFill>
            <a:ln>
              <a:noFill/>
            </a:ln>
            <a:effectLst/>
          </c:spPr>
          <c:invertIfNegative val="0"/>
          <c:dLbls>
            <c:numFmt formatCode="&quot;$&quot;#,##0" sourceLinked="0"/>
            <c:spPr>
              <a:noFill/>
              <a:ln>
                <a:noFill/>
              </a:ln>
              <a:effectLst/>
            </c:spPr>
            <c:txPr>
              <a:bodyPr/>
              <a:lstStyle/>
              <a:p>
                <a:pPr>
                  <a:defRPr sz="1100" b="0" i="0" u="none" strike="noStrike">
                    <a:solidFill>
                      <a:srgbClr val="3D0A1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John Smith</c:v>
                </c:pt>
                <c:pt idx="1">
                  <c:v>Omar Hassan</c:v>
                </c:pt>
                <c:pt idx="2">
                  <c:v>Fatima Ali</c:v>
                </c:pt>
                <c:pt idx="3">
                  <c:v>Maria Garcia</c:v>
                </c:pt>
                <c:pt idx="4">
                  <c:v>Luis Fernandez</c:v>
                </c:pt>
                <c:pt idx="5">
                  <c:v>David Johnson</c:v>
                </c:pt>
                <c:pt idx="6">
                  <c:v>Rahul Mehta</c:v>
                </c:pt>
                <c:pt idx="7">
                  <c:v>Priya Patel</c:v>
                </c:pt>
                <c:pt idx="8">
                  <c:v>Michael Brown</c:v>
                </c:pt>
                <c:pt idx="9">
                  <c:v>Noah Kim</c:v>
                </c:pt>
              </c:strCache>
            </c:strRef>
          </c:cat>
          <c:val>
            <c:numRef>
              <c:f>Sheet1!$B$2:$B$11</c:f>
              <c:numCache>
                <c:formatCode>General</c:formatCode>
                <c:ptCount val="10"/>
                <c:pt idx="0">
                  <c:v>18480</c:v>
                </c:pt>
                <c:pt idx="1">
                  <c:v>15520</c:v>
                </c:pt>
                <c:pt idx="2">
                  <c:v>13640</c:v>
                </c:pt>
                <c:pt idx="3">
                  <c:v>11800</c:v>
                </c:pt>
                <c:pt idx="4">
                  <c:v>11700</c:v>
                </c:pt>
                <c:pt idx="5">
                  <c:v>11440</c:v>
                </c:pt>
                <c:pt idx="6">
                  <c:v>11340</c:v>
                </c:pt>
                <c:pt idx="7">
                  <c:v>10880</c:v>
                </c:pt>
                <c:pt idx="8">
                  <c:v>10790</c:v>
                </c:pt>
                <c:pt idx="9">
                  <c:v>10515</c:v>
                </c:pt>
              </c:numCache>
            </c:numRef>
          </c:val>
          <c:extLst>
            <c:ext xmlns:c16="http://schemas.microsoft.com/office/drawing/2014/chart" uri="{C3380CC4-5D6E-409C-BE32-E72D297353CC}">
              <c16:uniqueId val="{00000000-521D-402E-90FC-B15B6519CCD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noFill/>
          <a:ln w="12700" cap="flat">
            <a:noFill/>
            <a:prstDash val="solid"/>
            <a:round/>
          </a:ln>
        </c:spPr>
        <c:txPr>
          <a:bodyPr/>
          <a:lstStyle/>
          <a:p>
            <a:pPr>
              <a:defRPr sz="1100" b="0" i="0" u="none" strike="noStrike">
                <a:solidFill>
                  <a:srgbClr val="2A3F46"/>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dirty="0">
                <a:solidFill>
                  <a:srgbClr val="3D0A10"/>
                </a:solidFill>
              </a:rPr>
              <a:t>Revenue by age group</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5A0F14"/>
            </a:solidFill>
            <a:ln>
              <a:noFill/>
            </a:ln>
            <a:effectLst/>
          </c:spPr>
          <c:invertIfNegative val="0"/>
          <c:dPt>
            <c:idx val="0"/>
            <c:invertIfNegative val="0"/>
            <c:bubble3D val="0"/>
            <c:extLst>
              <c:ext xmlns:c16="http://schemas.microsoft.com/office/drawing/2014/chart" uri="{C3380CC4-5D6E-409C-BE32-E72D297353CC}">
                <c16:uniqueId val="{00000001-8465-47B5-B06E-12D358A40E94}"/>
              </c:ext>
            </c:extLst>
          </c:dPt>
          <c:dPt>
            <c:idx val="1"/>
            <c:invertIfNegative val="0"/>
            <c:bubble3D val="0"/>
            <c:extLst>
              <c:ext xmlns:c16="http://schemas.microsoft.com/office/drawing/2014/chart" uri="{C3380CC4-5D6E-409C-BE32-E72D297353CC}">
                <c16:uniqueId val="{00000003-8465-47B5-B06E-12D358A40E94}"/>
              </c:ext>
            </c:extLst>
          </c:dPt>
          <c:dPt>
            <c:idx val="2"/>
            <c:invertIfNegative val="0"/>
            <c:bubble3D val="0"/>
            <c:extLst>
              <c:ext xmlns:c16="http://schemas.microsoft.com/office/drawing/2014/chart" uri="{C3380CC4-5D6E-409C-BE32-E72D297353CC}">
                <c16:uniqueId val="{00000005-8465-47B5-B06E-12D358A40E94}"/>
              </c:ext>
            </c:extLst>
          </c:dPt>
          <c:dPt>
            <c:idx val="3"/>
            <c:invertIfNegative val="0"/>
            <c:bubble3D val="0"/>
            <c:extLst>
              <c:ext xmlns:c16="http://schemas.microsoft.com/office/drawing/2014/chart" uri="{C3380CC4-5D6E-409C-BE32-E72D297353CC}">
                <c16:uniqueId val="{00000007-8465-47B5-B06E-12D358A40E94}"/>
              </c:ext>
            </c:extLst>
          </c:dPt>
          <c:dLbls>
            <c:numFmt formatCode="&quot;$&quot;#,##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Under 25</c:v>
                </c:pt>
                <c:pt idx="1">
                  <c:v>25-34</c:v>
                </c:pt>
                <c:pt idx="2">
                  <c:v>35-44</c:v>
                </c:pt>
                <c:pt idx="3">
                  <c:v>45 and above</c:v>
                </c:pt>
              </c:strCache>
            </c:strRef>
          </c:cat>
          <c:val>
            <c:numRef>
              <c:f>Sheet1!$B$2:$B$5</c:f>
              <c:numCache>
                <c:formatCode>General</c:formatCode>
                <c:ptCount val="4"/>
                <c:pt idx="0">
                  <c:v>850</c:v>
                </c:pt>
                <c:pt idx="1">
                  <c:v>77450</c:v>
                </c:pt>
                <c:pt idx="2">
                  <c:v>58050</c:v>
                </c:pt>
                <c:pt idx="3">
                  <c:v>10790</c:v>
                </c:pt>
              </c:numCache>
            </c:numRef>
          </c:val>
          <c:extLst>
            <c:ext xmlns:c16="http://schemas.microsoft.com/office/drawing/2014/chart" uri="{C3380CC4-5D6E-409C-BE32-E72D297353CC}">
              <c16:uniqueId val="{00000008-8465-47B5-B06E-12D358A40E9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solidFill>
            <a:srgbClr val="3D0A10"/>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A3F46"/>
                </a:solidFill>
                <a:latin typeface="+mn-lt"/>
              </a:defRPr>
            </a:pPr>
            <a:r>
              <a:rPr lang="en-US" sz="1200" b="0" i="0" u="none" strike="noStrike" dirty="0">
                <a:solidFill>
                  <a:srgbClr val="3D0A10"/>
                </a:solidFill>
                <a:latin typeface="+mn-lt"/>
              </a:rPr>
              <a:t>Top 6 products by revenue</a:t>
            </a:r>
          </a:p>
        </c:rich>
      </c:tx>
      <c:overlay val="0"/>
    </c:title>
    <c:autoTitleDeleted val="0"/>
    <c:plotArea>
      <c:layout/>
      <c:barChart>
        <c:barDir val="bar"/>
        <c:grouping val="clustered"/>
        <c:varyColors val="0"/>
        <c:ser>
          <c:idx val="0"/>
          <c:order val="0"/>
          <c:tx>
            <c:strRef>
              <c:f>Sheet1!$B$1</c:f>
              <c:strCache>
                <c:ptCount val="1"/>
                <c:pt idx="0">
                  <c:v>Series</c:v>
                </c:pt>
              </c:strCache>
            </c:strRef>
          </c:tx>
          <c:spPr>
            <a:solidFill>
              <a:srgbClr val="5A0F14"/>
            </a:solidFill>
            <a:ln>
              <a:noFill/>
            </a:ln>
            <a:effectLst/>
          </c:spPr>
          <c:invertIfNegative val="0"/>
          <c:dLbls>
            <c:numFmt formatCode="&quot;$&quot;#,##0" sourceLinked="0"/>
            <c:spPr>
              <a:noFill/>
              <a:ln>
                <a:noFill/>
              </a:ln>
              <a:effectLst/>
            </c:spPr>
            <c:txPr>
              <a:bodyPr/>
              <a:lstStyle/>
              <a:p>
                <a:pPr>
                  <a:defRPr sz="1100" b="0" i="0" u="none" strike="noStrike">
                    <a:solidFill>
                      <a:srgbClr val="3D0A1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Laptop Pro 14</c:v>
                </c:pt>
                <c:pt idx="1">
                  <c:v>Tablet Air</c:v>
                </c:pt>
                <c:pt idx="2">
                  <c:v>Standing Desk</c:v>
                </c:pt>
                <c:pt idx="3">
                  <c:v>Office Chair Deluxe</c:v>
                </c:pt>
                <c:pt idx="4">
                  <c:v>4K Monitor</c:v>
                </c:pt>
                <c:pt idx="5">
                  <c:v>Noise Cancelling Earbuds</c:v>
                </c:pt>
              </c:strCache>
            </c:strRef>
          </c:cat>
          <c:val>
            <c:numRef>
              <c:f>Sheet1!$B$2:$B$7</c:f>
              <c:numCache>
                <c:formatCode>General</c:formatCode>
                <c:ptCount val="6"/>
                <c:pt idx="0">
                  <c:v>40300</c:v>
                </c:pt>
                <c:pt idx="1">
                  <c:v>31500</c:v>
                </c:pt>
                <c:pt idx="2">
                  <c:v>23400</c:v>
                </c:pt>
                <c:pt idx="3">
                  <c:v>17920</c:v>
                </c:pt>
                <c:pt idx="4">
                  <c:v>13200</c:v>
                </c:pt>
                <c:pt idx="5">
                  <c:v>8640</c:v>
                </c:pt>
              </c:numCache>
            </c:numRef>
          </c:val>
          <c:extLst>
            <c:ext xmlns:c16="http://schemas.microsoft.com/office/drawing/2014/chart" uri="{C3380CC4-5D6E-409C-BE32-E72D297353CC}">
              <c16:uniqueId val="{00000000-713A-4FC5-9FAC-3CABA7A4687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D0A1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A3F46"/>
                </a:solidFill>
                <a:latin typeface="+mn-lt"/>
              </a:defRPr>
            </a:pPr>
            <a:r>
              <a:rPr lang="en-US" sz="1200" b="0" i="0" u="none" strike="noStrike">
                <a:solidFill>
                  <a:srgbClr val="2A3F46"/>
                </a:solidFill>
                <a:latin typeface="+mn-lt"/>
              </a:rPr>
              <a:t>Monthly sales by category (2024)</a:t>
            </a:r>
          </a:p>
        </c:rich>
      </c:tx>
      <c:overlay val="0"/>
    </c:title>
    <c:autoTitleDeleted val="0"/>
    <c:plotArea>
      <c:layout/>
      <c:barChart>
        <c:barDir val="col"/>
        <c:grouping val="stacked"/>
        <c:varyColors val="0"/>
        <c:ser>
          <c:idx val="0"/>
          <c:order val="0"/>
          <c:tx>
            <c:strRef>
              <c:f>Sheet1!$B$1</c:f>
              <c:strCache>
                <c:ptCount val="1"/>
                <c:pt idx="0">
                  <c:v>Electronics</c:v>
                </c:pt>
              </c:strCache>
            </c:strRef>
          </c:tx>
          <c:spPr>
            <a:solidFill>
              <a:srgbClr val="5A0F14"/>
            </a:solidFill>
            <a:ln>
              <a:noFill/>
            </a:ln>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11050</c:v>
                </c:pt>
                <c:pt idx="1">
                  <c:v>11900</c:v>
                </c:pt>
                <c:pt idx="2">
                  <c:v>16320</c:v>
                </c:pt>
                <c:pt idx="3">
                  <c:v>13100</c:v>
                </c:pt>
                <c:pt idx="4">
                  <c:v>13100</c:v>
                </c:pt>
                <c:pt idx="5">
                  <c:v>13100</c:v>
                </c:pt>
                <c:pt idx="6">
                  <c:v>9300</c:v>
                </c:pt>
              </c:numCache>
            </c:numRef>
          </c:val>
          <c:extLst>
            <c:ext xmlns:c16="http://schemas.microsoft.com/office/drawing/2014/chart" uri="{C3380CC4-5D6E-409C-BE32-E72D297353CC}">
              <c16:uniqueId val="{00000000-45D0-45B9-AE44-49D489D3FEB3}"/>
            </c:ext>
          </c:extLst>
        </c:ser>
        <c:ser>
          <c:idx val="1"/>
          <c:order val="1"/>
          <c:tx>
            <c:strRef>
              <c:f>Sheet1!$C$1</c:f>
              <c:strCache>
                <c:ptCount val="1"/>
                <c:pt idx="0">
                  <c:v>Furniture</c:v>
                </c:pt>
              </c:strCache>
            </c:strRef>
          </c:tx>
          <c:spPr>
            <a:solidFill>
              <a:srgbClr val="B98080"/>
            </a:solidFill>
            <a:ln>
              <a:noFill/>
            </a:ln>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3860</c:v>
                </c:pt>
                <c:pt idx="1">
                  <c:v>5490</c:v>
                </c:pt>
                <c:pt idx="2">
                  <c:v>6670</c:v>
                </c:pt>
                <c:pt idx="3">
                  <c:v>6780</c:v>
                </c:pt>
                <c:pt idx="4">
                  <c:v>5490</c:v>
                </c:pt>
                <c:pt idx="5">
                  <c:v>6460</c:v>
                </c:pt>
                <c:pt idx="6">
                  <c:v>6780</c:v>
                </c:pt>
              </c:numCache>
            </c:numRef>
          </c:val>
          <c:extLst>
            <c:ext xmlns:c16="http://schemas.microsoft.com/office/drawing/2014/chart" uri="{C3380CC4-5D6E-409C-BE32-E72D297353CC}">
              <c16:uniqueId val="{00000001-45D0-45B9-AE44-49D489D3FEB3}"/>
            </c:ext>
          </c:extLst>
        </c:ser>
        <c:ser>
          <c:idx val="2"/>
          <c:order val="2"/>
          <c:tx>
            <c:strRef>
              <c:f>Sheet1!$D$1</c:f>
              <c:strCache>
                <c:ptCount val="1"/>
                <c:pt idx="0">
                  <c:v>Accessories</c:v>
                </c:pt>
              </c:strCache>
            </c:strRef>
          </c:tx>
          <c:spPr>
            <a:solidFill>
              <a:srgbClr val="D9B38C"/>
            </a:solidFill>
            <a:ln>
              <a:noFill/>
            </a:ln>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1860</c:v>
                </c:pt>
                <c:pt idx="1">
                  <c:v>2430</c:v>
                </c:pt>
                <c:pt idx="2">
                  <c:v>3040</c:v>
                </c:pt>
                <c:pt idx="3">
                  <c:v>2730</c:v>
                </c:pt>
                <c:pt idx="4">
                  <c:v>2730</c:v>
                </c:pt>
                <c:pt idx="5">
                  <c:v>2520</c:v>
                </c:pt>
                <c:pt idx="6">
                  <c:v>2430</c:v>
                </c:pt>
              </c:numCache>
            </c:numRef>
          </c:val>
          <c:extLst>
            <c:ext xmlns:c16="http://schemas.microsoft.com/office/drawing/2014/chart" uri="{C3380CC4-5D6E-409C-BE32-E72D297353CC}">
              <c16:uniqueId val="{00000002-45D0-45B9-AE44-49D489D3FEB3}"/>
            </c:ext>
          </c:extLst>
        </c:ser>
        <c:dLbls>
          <c:showLegendKey val="0"/>
          <c:showVal val="0"/>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A3F46"/>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0" sourceLinked="0"/>
        <c:majorTickMark val="out"/>
        <c:minorTickMark val="none"/>
        <c:tickLblPos val="nextTo"/>
        <c:crossAx val="2094734554"/>
        <c:crosses val="autoZero"/>
        <c:crossBetween val="between"/>
      </c:valAx>
      <c:spPr>
        <a:noFill/>
        <a:ln>
          <a:noFill/>
        </a:ln>
        <a:effectLst/>
      </c:spPr>
    </c:plotArea>
    <c:legend>
      <c:legendPos val="r"/>
      <c:overlay val="0"/>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dirty="0"/>
              <a:t>Revenue by region </a:t>
            </a:r>
          </a:p>
        </c:rich>
      </c:tx>
      <c:overlay val="0"/>
    </c:title>
    <c:autoTitleDeleted val="0"/>
    <c:plotArea>
      <c:layout/>
      <c:barChart>
        <c:barDir val="bar"/>
        <c:grouping val="clustered"/>
        <c:varyColors val="0"/>
        <c:ser>
          <c:idx val="0"/>
          <c:order val="0"/>
          <c:tx>
            <c:strRef>
              <c:f>Sheet1!$B$1</c:f>
              <c:strCache>
                <c:ptCount val="1"/>
                <c:pt idx="0">
                  <c:v>Series</c:v>
                </c:pt>
              </c:strCache>
            </c:strRef>
          </c:tx>
          <c:spPr>
            <a:solidFill>
              <a:srgbClr val="1C7C7D"/>
            </a:solidFill>
            <a:ln>
              <a:noFill/>
            </a:ln>
            <a:effectLst/>
          </c:spPr>
          <c:invertIfNegative val="0"/>
          <c:dPt>
            <c:idx val="0"/>
            <c:invertIfNegative val="0"/>
            <c:bubble3D val="0"/>
            <c:spPr>
              <a:solidFill>
                <a:srgbClr val="5A0F14"/>
              </a:solidFill>
              <a:ln>
                <a:noFill/>
              </a:ln>
              <a:effectLst/>
            </c:spPr>
            <c:extLst>
              <c:ext xmlns:c16="http://schemas.microsoft.com/office/drawing/2014/chart" uri="{C3380CC4-5D6E-409C-BE32-E72D297353CC}">
                <c16:uniqueId val="{00000001-F2A1-430B-A4C8-4338F9A0C8EB}"/>
              </c:ext>
            </c:extLst>
          </c:dPt>
          <c:dPt>
            <c:idx val="1"/>
            <c:invertIfNegative val="0"/>
            <c:bubble3D val="0"/>
            <c:spPr>
              <a:solidFill>
                <a:srgbClr val="5A0F14"/>
              </a:solidFill>
              <a:ln>
                <a:noFill/>
              </a:ln>
              <a:effectLst/>
            </c:spPr>
            <c:extLst>
              <c:ext xmlns:c16="http://schemas.microsoft.com/office/drawing/2014/chart" uri="{C3380CC4-5D6E-409C-BE32-E72D297353CC}">
                <c16:uniqueId val="{00000003-F2A1-430B-A4C8-4338F9A0C8EB}"/>
              </c:ext>
            </c:extLst>
          </c:dPt>
          <c:dPt>
            <c:idx val="2"/>
            <c:invertIfNegative val="0"/>
            <c:bubble3D val="0"/>
            <c:spPr>
              <a:solidFill>
                <a:srgbClr val="5A0F14"/>
              </a:solidFill>
              <a:ln>
                <a:noFill/>
              </a:ln>
              <a:effectLst/>
            </c:spPr>
            <c:extLst>
              <c:ext xmlns:c16="http://schemas.microsoft.com/office/drawing/2014/chart" uri="{C3380CC4-5D6E-409C-BE32-E72D297353CC}">
                <c16:uniqueId val="{00000005-F2A1-430B-A4C8-4338F9A0C8EB}"/>
              </c:ext>
            </c:extLst>
          </c:dPt>
          <c:dPt>
            <c:idx val="3"/>
            <c:invertIfNegative val="0"/>
            <c:bubble3D val="0"/>
            <c:spPr>
              <a:solidFill>
                <a:srgbClr val="B5442E"/>
              </a:solidFill>
              <a:ln>
                <a:noFill/>
              </a:ln>
              <a:effectLst/>
            </c:spPr>
            <c:extLst>
              <c:ext xmlns:c16="http://schemas.microsoft.com/office/drawing/2014/chart" uri="{C3380CC4-5D6E-409C-BE32-E72D297353CC}">
                <c16:uniqueId val="{00000007-F2A1-430B-A4C8-4338F9A0C8EB}"/>
              </c:ext>
            </c:extLst>
          </c:dPt>
          <c:dPt>
            <c:idx val="4"/>
            <c:invertIfNegative val="0"/>
            <c:bubble3D val="0"/>
            <c:spPr>
              <a:solidFill>
                <a:srgbClr val="5A0F14"/>
              </a:solidFill>
              <a:ln>
                <a:noFill/>
              </a:ln>
              <a:effectLst/>
            </c:spPr>
            <c:extLst>
              <c:ext xmlns:c16="http://schemas.microsoft.com/office/drawing/2014/chart" uri="{C3380CC4-5D6E-409C-BE32-E72D297353CC}">
                <c16:uniqueId val="{00000009-F2A1-430B-A4C8-4338F9A0C8EB}"/>
              </c:ext>
            </c:extLst>
          </c:dPt>
          <c:dPt>
            <c:idx val="5"/>
            <c:invertIfNegative val="0"/>
            <c:bubble3D val="0"/>
            <c:spPr>
              <a:solidFill>
                <a:srgbClr val="B5442E"/>
              </a:solidFill>
              <a:ln>
                <a:noFill/>
              </a:ln>
              <a:effectLst/>
            </c:spPr>
            <c:extLst>
              <c:ext xmlns:c16="http://schemas.microsoft.com/office/drawing/2014/chart" uri="{C3380CC4-5D6E-409C-BE32-E72D297353CC}">
                <c16:uniqueId val="{0000000B-F2A1-430B-A4C8-4338F9A0C8EB}"/>
              </c:ext>
            </c:extLst>
          </c:dPt>
          <c:dLbls>
            <c:numFmt formatCode="&quot;$&quot;#,##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North America</c:v>
                </c:pt>
                <c:pt idx="1">
                  <c:v>Asia</c:v>
                </c:pt>
                <c:pt idx="2">
                  <c:v>Europe</c:v>
                </c:pt>
                <c:pt idx="3">
                  <c:v>Africa</c:v>
                </c:pt>
                <c:pt idx="4">
                  <c:v>Middle East</c:v>
                </c:pt>
                <c:pt idx="5">
                  <c:v>Oceania</c:v>
                </c:pt>
              </c:strCache>
            </c:strRef>
          </c:cat>
          <c:val>
            <c:numRef>
              <c:f>Sheet1!$B$2:$B$7</c:f>
              <c:numCache>
                <c:formatCode>General</c:formatCode>
                <c:ptCount val="6"/>
                <c:pt idx="0">
                  <c:v>51830</c:v>
                </c:pt>
                <c:pt idx="1">
                  <c:v>33255</c:v>
                </c:pt>
                <c:pt idx="2">
                  <c:v>19955</c:v>
                </c:pt>
                <c:pt idx="3">
                  <c:v>17020</c:v>
                </c:pt>
                <c:pt idx="4">
                  <c:v>13640</c:v>
                </c:pt>
                <c:pt idx="5">
                  <c:v>11440</c:v>
                </c:pt>
              </c:numCache>
            </c:numRef>
          </c:val>
          <c:extLst>
            <c:ext xmlns:c16="http://schemas.microsoft.com/office/drawing/2014/chart" uri="{C3380CC4-5D6E-409C-BE32-E72D297353CC}">
              <c16:uniqueId val="{0000000C-F2A1-430B-A4C8-4338F9A0C8EB}"/>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a:solidFill>
                  <a:srgbClr val="3D0A10"/>
                </a:solidFil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solidFill>
            <a:srgbClr val="3D0A10"/>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A3F46"/>
                </a:solidFill>
                <a:latin typeface="+mn-lt"/>
              </a:defRPr>
            </a:pPr>
            <a:r>
              <a:rPr lang="en-US" sz="1200" b="0" i="0" u="none" strike="noStrike" dirty="0">
                <a:solidFill>
                  <a:srgbClr val="3D0A10"/>
                </a:solidFill>
                <a:latin typeface="+mn-lt"/>
              </a:rPr>
              <a:t>Units sold compared with stock left</a:t>
            </a:r>
          </a:p>
        </c:rich>
      </c:tx>
      <c:overlay val="0"/>
    </c:title>
    <c:autoTitleDeleted val="0"/>
    <c:plotArea>
      <c:layout/>
      <c:barChart>
        <c:barDir val="bar"/>
        <c:grouping val="clustered"/>
        <c:varyColors val="0"/>
        <c:ser>
          <c:idx val="0"/>
          <c:order val="0"/>
          <c:tx>
            <c:strRef>
              <c:f>Sheet1!$B$1</c:f>
              <c:strCache>
                <c:ptCount val="1"/>
                <c:pt idx="0">
                  <c:v>Series</c:v>
                </c:pt>
              </c:strCache>
            </c:strRef>
          </c:tx>
          <c:spPr>
            <a:solidFill>
              <a:srgbClr val="5A0F14"/>
            </a:solidFill>
            <a:ln>
              <a:noFill/>
            </a:ln>
            <a:effectLst/>
          </c:spPr>
          <c:invertIfNegative val="0"/>
          <c:dPt>
            <c:idx val="0"/>
            <c:invertIfNegative val="0"/>
            <c:bubble3D val="0"/>
            <c:spPr>
              <a:solidFill>
                <a:srgbClr val="B5442E"/>
              </a:solidFill>
              <a:ln>
                <a:noFill/>
              </a:ln>
              <a:effectLst/>
            </c:spPr>
            <c:extLst>
              <c:ext xmlns:c16="http://schemas.microsoft.com/office/drawing/2014/chart" uri="{C3380CC4-5D6E-409C-BE32-E72D297353CC}">
                <c16:uniqueId val="{00000001-6CF9-4967-9697-5AA6633D052D}"/>
              </c:ext>
            </c:extLst>
          </c:dPt>
          <c:dPt>
            <c:idx val="1"/>
            <c:invertIfNegative val="0"/>
            <c:bubble3D val="0"/>
            <c:extLst>
              <c:ext xmlns:c16="http://schemas.microsoft.com/office/drawing/2014/chart" uri="{C3380CC4-5D6E-409C-BE32-E72D297353CC}">
                <c16:uniqueId val="{00000003-6CF9-4967-9697-5AA6633D052D}"/>
              </c:ext>
            </c:extLst>
          </c:dPt>
          <c:dPt>
            <c:idx val="2"/>
            <c:invertIfNegative val="0"/>
            <c:bubble3D val="0"/>
            <c:extLst>
              <c:ext xmlns:c16="http://schemas.microsoft.com/office/drawing/2014/chart" uri="{C3380CC4-5D6E-409C-BE32-E72D297353CC}">
                <c16:uniqueId val="{00000005-6CF9-4967-9697-5AA6633D052D}"/>
              </c:ext>
            </c:extLst>
          </c:dPt>
          <c:dPt>
            <c:idx val="3"/>
            <c:invertIfNegative val="0"/>
            <c:bubble3D val="0"/>
            <c:extLst>
              <c:ext xmlns:c16="http://schemas.microsoft.com/office/drawing/2014/chart" uri="{C3380CC4-5D6E-409C-BE32-E72D297353CC}">
                <c16:uniqueId val="{00000007-6CF9-4967-9697-5AA6633D052D}"/>
              </c:ext>
            </c:extLst>
          </c:dPt>
          <c:dPt>
            <c:idx val="4"/>
            <c:invertIfNegative val="0"/>
            <c:bubble3D val="0"/>
            <c:extLst>
              <c:ext xmlns:c16="http://schemas.microsoft.com/office/drawing/2014/chart" uri="{C3380CC4-5D6E-409C-BE32-E72D297353CC}">
                <c16:uniqueId val="{00000009-6CF9-4967-9697-5AA6633D052D}"/>
              </c:ext>
            </c:extLst>
          </c:dPt>
          <c:dLbls>
            <c:numFmt formatCode="0.00" sourceLinked="0"/>
            <c:spPr>
              <a:noFill/>
              <a:ln>
                <a:noFill/>
              </a:ln>
              <a:effectLst/>
            </c:spPr>
            <c:txPr>
              <a:bodyPr/>
              <a:lstStyle/>
              <a:p>
                <a:pPr>
                  <a:defRPr sz="1100" b="0" i="0" u="none" strike="noStrike">
                    <a:solidFill>
                      <a:srgbClr val="2A3F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Standing Desk</c:v>
                </c:pt>
                <c:pt idx="1">
                  <c:v>Office Chair Deluxe</c:v>
                </c:pt>
                <c:pt idx="2">
                  <c:v>Laptop Pro 14</c:v>
                </c:pt>
                <c:pt idx="3">
                  <c:v>4K Monitor</c:v>
                </c:pt>
                <c:pt idx="4">
                  <c:v>Tablet Air</c:v>
                </c:pt>
              </c:strCache>
            </c:strRef>
          </c:cat>
          <c:val>
            <c:numRef>
              <c:f>Sheet1!$B$2:$B$6</c:f>
              <c:numCache>
                <c:formatCode>General</c:formatCode>
                <c:ptCount val="5"/>
                <c:pt idx="0">
                  <c:v>0.9</c:v>
                </c:pt>
                <c:pt idx="1">
                  <c:v>0.75</c:v>
                </c:pt>
                <c:pt idx="2">
                  <c:v>0.62</c:v>
                </c:pt>
                <c:pt idx="3">
                  <c:v>0.55000000000000004</c:v>
                </c:pt>
                <c:pt idx="4">
                  <c:v>0.5</c:v>
                </c:pt>
              </c:numCache>
            </c:numRef>
          </c:val>
          <c:extLst>
            <c:ext xmlns:c16="http://schemas.microsoft.com/office/drawing/2014/chart" uri="{C3380CC4-5D6E-409C-BE32-E72D297353CC}">
              <c16:uniqueId val="{0000000A-6CF9-4967-9697-5AA6633D052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A3F46"/>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6378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Introduce yourself and the project: you acted as the Data Analyst for TechStore Inc., an e-commerce company selling electronics, furniture and accessories. You wrote 20 SQL queries and turned them into insights and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Management has three goals: better sales, better customer understanding and smarter stock. You had four tables. Explain your two ground rules: (1) only Completed orders count as sales, because Cancelled and Pending orders are not finished sales; (2) Orders has no SalesRepID column, so, as your tutor advised, you analysed sales reps by region.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These are the headline numbers from the business summary query: 163 completed orders, 18 active customers, 147,140 revenue, about 903 per order. The chart shows order status: 78% Completed, 20% Pending (42 orders) and only 2% Cancelled (4 orders). Point out the 42 Pending orders are not counted as revenue yet, so they are possible extra sales.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Query: top 10 customers by total purchase value, joining Orders, Customers and Products and adding up quantity times price. John Smith is first with 18,480. The top 10 together bring in 126,105, about 86% of revenue. The USA is the top country (28,380) and North America is the top region (51,830). 9 customers have had no order in the last 6 months, so they are a good target for a win-back campaign.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Age groups: 25-34 earns 77,450 from 10 customers and 35-44 earns 58,050 from 6, together about 92% of revenue. Gender: 9 male and 9 female customers, but male customers bring in 91,395 against 55,745, about 64% more, with a higher average order value (942 vs 845). Customer segmentation (NTILE) also showed the Low Value group spends 1,500 or less each, so marketing can reward High Value customers and send offers to Low Value ones.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Query: products with a LEFT JOIN to completed orders, so products that never sold still appear with 0. Office Chair Deluxe sells the most units (56) but Laptop Pro 14 earns the most money (40,300 from only 31 units). 11 of the 25 products had no completed sales: Mechanical Keyboard, Desk Lamp, USB-C Hub, External SSD 1TB, Webcam HD, Printer All-in-One, Backpack Pro, Smartwatch Fit, Bluetooth Speaker, Ergonomic Footrest and Power Strip Surge. Cancellations are rare: only 3 products have any (Office Chair Deluxe has the most, 2 orders).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Query: monthly sales per category using YEAR and MONTH, then month-over-month growth with LAG. Revenue grew from 16,770 in January to a peak of 26,030 in March, then declined to 18,510 in July. Electronics earns the most in every month (9,300 to 16,320). Accessories stays between 1,860 and 3,040. Note: the Furniture months from April to July in this chart were worked out as total revenue minus Electronics minus Accessories; check them against your category query result before presenting. Also check that the July data is complete before calling it a real drop.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Orders has no SalesRepID, so, as your tutor advised, sales rep performance is analysed by region: each rep is linked to the total sales of their region. North America (James Carter, Lina Rodriguez, Tom Williams) is on top with 51,830, and it also has the highest average order value. Say clearly that reps in the same region share the same number, so this is performance by region, not by individual rep. The key finding: Africa (17,020) and Oceania (11,440) earn 28,460 with no sales reps, while South America has a rep (Maria Lopez) but no completed sales.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Query: demand-to-stock ratio, units sold divided by units in stock. Standing Desk is highest (0.90), then Office Chair Deluxe (0.75) and Laptop Pro 14 (0.62), so these should be restocked and monitored. Gaming Laptop 16 has the lowest stock (30) but sold only 1 unit, so it is not urgent. Forecast: a simple average of each product's last 3 months. Laptop Pro 14 is expected to stay on top at about 5,633, then Tablet Air (4,200) and Standing Desk (3,683). Say it is an estimate, not a prediction model. Anomaly check (average plus 2 standard deviations) found one unusual order: Order 10, 5 units of Office Chair Deluxe, probably a one-off bulk purchase.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Walk through the six actions, each tied to a finding: restock the fast sellers, add reps where revenue has no rep coverage, win back the 9 inactive customers, follow up the 42 Pending orders, review the 11 products with no sales, and investigate the drop after March. If asked about more, you can also mention: reward High Value customers, and focus marketing on the 25-44 age groups.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these questions. Why only Completed orders? Cancelled and Pending orders are not finished sales. Why no individual rep results? There is no rep link in Orders, so you used region, as your tutor advised. How reliable is the forecast? It is a simple 3-month average, so it is an estimate. For any query, say three things: the question, how you answered it in one sentence (for example: I joined Orders to Products and added up quantity times price), and the result.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5852160" cy="15544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2971800"/>
            <a:ext cx="5852160" cy="109728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365760"/>
            <a:ext cx="8229600"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2651760"/>
            <a:ext cx="7863840" cy="10972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0A10"/>
        </a:solidFill>
        <a:effectLst/>
      </p:bgPr>
    </p:bg>
    <p:spTree>
      <p:nvGrpSpPr>
        <p:cNvPr id="1" name=""/>
        <p:cNvGrpSpPr/>
        <p:nvPr/>
      </p:nvGrpSpPr>
      <p:grpSpPr>
        <a:xfrm>
          <a:off x="0" y="0"/>
          <a:ext cx="0" cy="0"/>
          <a:chOff x="0" y="0"/>
          <a:chExt cx="0" cy="0"/>
        </a:xfrm>
      </p:grpSpPr>
      <p:sp>
        <p:nvSpPr>
          <p:cNvPr id="2" name="Decor large circle"/>
          <p:cNvSpPr/>
          <p:nvPr/>
        </p:nvSpPr>
        <p:spPr>
          <a:xfrm>
            <a:off x="5342315" y="1413710"/>
            <a:ext cx="3693402" cy="3778517"/>
          </a:xfrm>
          <a:prstGeom prst="ellipse">
            <a:avLst/>
          </a:prstGeom>
          <a:solidFill>
            <a:srgbClr val="B98080">
              <a:alpha val="44706"/>
            </a:srgbClr>
          </a:solidFill>
          <a:ln/>
        </p:spPr>
      </p:sp>
      <p:sp>
        <p:nvSpPr>
          <p:cNvPr id="3" name="Decor small circle"/>
          <p:cNvSpPr/>
          <p:nvPr/>
        </p:nvSpPr>
        <p:spPr>
          <a:xfrm>
            <a:off x="5947425" y="3383280"/>
            <a:ext cx="1371600" cy="1371600"/>
          </a:xfrm>
          <a:prstGeom prst="ellipse">
            <a:avLst/>
          </a:prstGeom>
          <a:solidFill>
            <a:srgbClr val="E8D3C0">
              <a:alpha val="89804"/>
            </a:srgbClr>
          </a:solidFill>
          <a:ln/>
        </p:spPr>
        <p:txBody>
          <a:bodyPr/>
          <a:lstStyle/>
          <a:p>
            <a:endParaRPr lang="en-US" dirty="0"/>
          </a:p>
        </p:txBody>
      </p:sp>
      <p:sp>
        <p:nvSpPr>
          <p:cNvPr id="4" name="Text 0"/>
          <p:cNvSpPr>
            <a:spLocks noGrp="1"/>
          </p:cNvSpPr>
          <p:nvPr>
            <p:ph type="title" idx="100" hasCustomPrompt="1"/>
          </p:nvPr>
        </p:nvSpPr>
        <p:spPr>
          <a:xfrm>
            <a:off x="640080" y="1234440"/>
            <a:ext cx="5852160" cy="1554480"/>
          </a:xfrm>
          <a:prstGeom prst="rect">
            <a:avLst/>
          </a:prstGeom>
          <a:noFill/>
          <a:ln/>
        </p:spPr>
        <p:txBody>
          <a:bodyPr wrap="square" lIns="0" tIns="0" rIns="0" bIns="0" rtlCol="0" anchor="b"/>
          <a:lstStyle/>
          <a:p>
            <a:pPr marL="0" indent="0" algn="l">
              <a:buNone/>
            </a:pPr>
            <a:r>
              <a:rPr lang="en-US" sz="4000" b="1" dirty="0">
                <a:solidFill>
                  <a:schemeClr val="bg1"/>
                </a:solidFill>
              </a:rPr>
              <a:t>TechStore Inc. Sales Analysis</a:t>
            </a:r>
            <a:endParaRPr lang="en-US" sz="4000" dirty="0"/>
          </a:p>
        </p:txBody>
      </p:sp>
      <p:sp>
        <p:nvSpPr>
          <p:cNvPr id="5" name="Text 0"/>
          <p:cNvSpPr>
            <a:spLocks noGrp="1"/>
          </p:cNvSpPr>
          <p:nvPr>
            <p:ph type="body" idx="101" hasCustomPrompt="1"/>
          </p:nvPr>
        </p:nvSpPr>
        <p:spPr>
          <a:xfrm>
            <a:off x="328023" y="2971800"/>
            <a:ext cx="5852160" cy="1097280"/>
          </a:xfrm>
          <a:prstGeom prst="rect">
            <a:avLst/>
          </a:prstGeom>
          <a:noFill/>
          <a:ln/>
        </p:spPr>
        <p:txBody>
          <a:bodyPr wrap="square" lIns="0" tIns="0" rIns="0" bIns="0" rtlCol="0" anchor="t"/>
          <a:lstStyle/>
          <a:p>
            <a:pPr marL="0" indent="0" algn="l">
              <a:buNone/>
            </a:pPr>
            <a:r>
              <a:rPr lang="en-US" sz="1800" dirty="0">
                <a:solidFill>
                  <a:schemeClr val="bg2"/>
                </a:solidFill>
              </a:rPr>
              <a:t>Customer &amp; Sales Analysis Using SQL</a:t>
            </a:r>
            <a:endParaRPr lang="en-US" sz="1800" dirty="0"/>
          </a:p>
          <a:p>
            <a:pPr marL="0" indent="0" algn="l">
              <a:buNone/>
            </a:pPr>
            <a:r>
              <a:rPr lang="en-US" sz="1800" dirty="0">
                <a:solidFill>
                  <a:schemeClr val="bg2"/>
                </a:solidFill>
              </a:rPr>
              <a:t>SQL Capstone Final Project | AWE Mentorship, Month 3</a:t>
            </a:r>
            <a:endParaRPr lang="en-US" sz="1800" dirty="0"/>
          </a:p>
          <a:p>
            <a:pPr marL="0" indent="0" algn="l">
              <a:buNone/>
            </a:pPr>
            <a:r>
              <a:rPr lang="en-US" sz="1800" dirty="0">
                <a:solidFill>
                  <a:schemeClr val="bg2"/>
                </a:solidFill>
              </a:rPr>
              <a:t>Matilda Etuk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What management wants to know</a:t>
            </a:r>
            <a:endParaRPr lang="en-US" sz="3200" dirty="0">
              <a:solidFill>
                <a:srgbClr val="3D0A10"/>
              </a:solidFill>
            </a:endParaRPr>
          </a:p>
        </p:txBody>
      </p:sp>
      <p:sp>
        <p:nvSpPr>
          <p:cNvPr id="3" name="Left label"/>
          <p:cNvSpPr txBox="1"/>
          <p:nvPr/>
        </p:nvSpPr>
        <p:spPr>
          <a:xfrm>
            <a:off x="457200" y="1325880"/>
            <a:ext cx="4023360" cy="274320"/>
          </a:xfrm>
          <a:prstGeom prst="rect">
            <a:avLst/>
          </a:prstGeom>
          <a:noFill/>
          <a:ln/>
        </p:spPr>
        <p:txBody>
          <a:bodyPr wrap="square" lIns="0" tIns="0" rIns="0" bIns="0" rtlCol="0" anchor="ctr"/>
          <a:lstStyle/>
          <a:p>
            <a:pPr marL="0" indent="0">
              <a:buNone/>
            </a:pPr>
            <a:r>
              <a:rPr lang="en-US" sz="1200" b="1" dirty="0">
                <a:solidFill>
                  <a:srgbClr val="3D0A10"/>
                </a:solidFill>
              </a:rPr>
              <a:t>Management wants to...</a:t>
            </a:r>
            <a:endParaRPr lang="en-US" sz="1200" dirty="0">
              <a:solidFill>
                <a:srgbClr val="3D0A10"/>
              </a:solidFill>
            </a:endParaRPr>
          </a:p>
        </p:txBody>
      </p:sp>
      <p:sp>
        <p:nvSpPr>
          <p:cNvPr id="4" name="Goal 1 circle"/>
          <p:cNvSpPr/>
          <p:nvPr/>
        </p:nvSpPr>
        <p:spPr>
          <a:xfrm>
            <a:off x="457200" y="1737360"/>
            <a:ext cx="548640" cy="548640"/>
          </a:xfrm>
          <a:prstGeom prst="ellipse">
            <a:avLst/>
          </a:prstGeom>
          <a:solidFill>
            <a:srgbClr val="5A0F14"/>
          </a:solidFill>
          <a:ln/>
        </p:spPr>
      </p:sp>
      <p:pic>
        <p:nvPicPr>
          <p:cNvPr id="5" name="Goal 1 icon" descr="Goal 1"/>
          <p:cNvPicPr>
            <a:picLocks noChangeAspect="1"/>
          </p:cNvPicPr>
          <p:nvPr/>
        </p:nvPicPr>
        <p:blipFill>
          <a:blip r:embed="rId3"/>
          <a:stretch>
            <a:fillRect/>
          </a:stretch>
        </p:blipFill>
        <p:spPr>
          <a:xfrm>
            <a:off x="594360" y="1874520"/>
            <a:ext cx="274320" cy="274320"/>
          </a:xfrm>
          <a:prstGeom prst="rect">
            <a:avLst/>
          </a:prstGeom>
        </p:spPr>
      </p:pic>
      <p:sp>
        <p:nvSpPr>
          <p:cNvPr id="6" name="Goal 1 title"/>
          <p:cNvSpPr txBox="1"/>
          <p:nvPr/>
        </p:nvSpPr>
        <p:spPr>
          <a:xfrm>
            <a:off x="1188720" y="1691640"/>
            <a:ext cx="3383280" cy="320040"/>
          </a:xfrm>
          <a:prstGeom prst="rect">
            <a:avLst/>
          </a:prstGeom>
          <a:noFill/>
          <a:ln/>
        </p:spPr>
        <p:txBody>
          <a:bodyPr wrap="square" lIns="0" tIns="0" rIns="0" bIns="0" rtlCol="0" anchor="ctr"/>
          <a:lstStyle/>
          <a:p>
            <a:pPr marL="0" indent="0">
              <a:buNone/>
            </a:pPr>
            <a:r>
              <a:rPr lang="en-US" sz="1600" b="1" dirty="0">
                <a:solidFill>
                  <a:srgbClr val="3D0A10"/>
                </a:solidFill>
              </a:rPr>
              <a:t>Improve sales performance</a:t>
            </a:r>
            <a:endParaRPr lang="en-US" sz="1600" dirty="0">
              <a:solidFill>
                <a:srgbClr val="3D0A10"/>
              </a:solidFill>
            </a:endParaRPr>
          </a:p>
        </p:txBody>
      </p:sp>
      <p:sp>
        <p:nvSpPr>
          <p:cNvPr id="7" name="Goal 1 text"/>
          <p:cNvSpPr txBox="1"/>
          <p:nvPr/>
        </p:nvSpPr>
        <p:spPr>
          <a:xfrm>
            <a:off x="1188720" y="2020824"/>
            <a:ext cx="3383280" cy="320040"/>
          </a:xfrm>
          <a:prstGeom prst="rect">
            <a:avLst/>
          </a:prstGeom>
          <a:noFill/>
          <a:ln/>
        </p:spPr>
        <p:txBody>
          <a:bodyPr wrap="square" lIns="0" tIns="0" rIns="0" bIns="0" rtlCol="0" anchor="t"/>
          <a:lstStyle/>
          <a:p>
            <a:pPr marL="0" indent="0">
              <a:buNone/>
            </a:pPr>
            <a:r>
              <a:rPr lang="en-US" sz="1200" dirty="0">
                <a:solidFill>
                  <a:srgbClr val="3D0A10"/>
                </a:solidFill>
              </a:rPr>
              <a:t>Which products, regions and months earn the most</a:t>
            </a:r>
          </a:p>
        </p:txBody>
      </p:sp>
      <p:sp>
        <p:nvSpPr>
          <p:cNvPr id="8" name="Goal 2 circle"/>
          <p:cNvSpPr/>
          <p:nvPr/>
        </p:nvSpPr>
        <p:spPr>
          <a:xfrm>
            <a:off x="457200" y="2468880"/>
            <a:ext cx="548640" cy="548640"/>
          </a:xfrm>
          <a:prstGeom prst="ellipse">
            <a:avLst/>
          </a:prstGeom>
          <a:solidFill>
            <a:srgbClr val="5A0F14"/>
          </a:solidFill>
          <a:ln/>
        </p:spPr>
      </p:sp>
      <p:pic>
        <p:nvPicPr>
          <p:cNvPr id="9" name="Goal 2 icon" descr="Goal 2"/>
          <p:cNvPicPr>
            <a:picLocks noChangeAspect="1"/>
          </p:cNvPicPr>
          <p:nvPr/>
        </p:nvPicPr>
        <p:blipFill>
          <a:blip r:embed="rId4"/>
          <a:stretch>
            <a:fillRect/>
          </a:stretch>
        </p:blipFill>
        <p:spPr>
          <a:xfrm>
            <a:off x="594360" y="2606040"/>
            <a:ext cx="274320" cy="274320"/>
          </a:xfrm>
          <a:prstGeom prst="rect">
            <a:avLst/>
          </a:prstGeom>
        </p:spPr>
      </p:pic>
      <p:sp>
        <p:nvSpPr>
          <p:cNvPr id="10" name="Goal 2 title"/>
          <p:cNvSpPr txBox="1"/>
          <p:nvPr/>
        </p:nvSpPr>
        <p:spPr>
          <a:xfrm>
            <a:off x="1188720" y="2423160"/>
            <a:ext cx="3383280" cy="320040"/>
          </a:xfrm>
          <a:prstGeom prst="rect">
            <a:avLst/>
          </a:prstGeom>
          <a:noFill/>
          <a:ln/>
        </p:spPr>
        <p:txBody>
          <a:bodyPr wrap="square" lIns="0" tIns="0" rIns="0" bIns="0" rtlCol="0" anchor="ctr"/>
          <a:lstStyle/>
          <a:p>
            <a:pPr marL="0" indent="0">
              <a:buNone/>
            </a:pPr>
            <a:r>
              <a:rPr lang="en-US" sz="1600" b="1" dirty="0">
                <a:solidFill>
                  <a:srgbClr val="3D0A10"/>
                </a:solidFill>
              </a:rPr>
              <a:t>Understand customer behaviour</a:t>
            </a:r>
            <a:endParaRPr lang="en-US" sz="1600" dirty="0">
              <a:solidFill>
                <a:srgbClr val="3D0A10"/>
              </a:solidFill>
            </a:endParaRPr>
          </a:p>
        </p:txBody>
      </p:sp>
      <p:sp>
        <p:nvSpPr>
          <p:cNvPr id="11" name="Goal 2 text"/>
          <p:cNvSpPr txBox="1"/>
          <p:nvPr/>
        </p:nvSpPr>
        <p:spPr>
          <a:xfrm>
            <a:off x="1188720" y="2729484"/>
            <a:ext cx="3383280" cy="320040"/>
          </a:xfrm>
          <a:prstGeom prst="rect">
            <a:avLst/>
          </a:prstGeom>
          <a:noFill/>
          <a:ln/>
        </p:spPr>
        <p:txBody>
          <a:bodyPr wrap="square" lIns="0" tIns="0" rIns="0" bIns="0" rtlCol="0" anchor="t"/>
          <a:lstStyle/>
          <a:p>
            <a:pPr marL="0" indent="0">
              <a:buNone/>
            </a:pPr>
            <a:r>
              <a:rPr lang="en-US" sz="1200" dirty="0">
                <a:solidFill>
                  <a:srgbClr val="3D0A10"/>
                </a:solidFill>
              </a:rPr>
              <a:t>Who buys, how much, and who has gone quiet</a:t>
            </a:r>
          </a:p>
        </p:txBody>
      </p:sp>
      <p:sp>
        <p:nvSpPr>
          <p:cNvPr id="12" name="Goal 3 circle"/>
          <p:cNvSpPr/>
          <p:nvPr/>
        </p:nvSpPr>
        <p:spPr>
          <a:xfrm>
            <a:off x="457200" y="3200400"/>
            <a:ext cx="548640" cy="548640"/>
          </a:xfrm>
          <a:prstGeom prst="ellipse">
            <a:avLst/>
          </a:prstGeom>
          <a:solidFill>
            <a:srgbClr val="5A0F14"/>
          </a:solidFill>
          <a:ln/>
        </p:spPr>
      </p:sp>
      <p:pic>
        <p:nvPicPr>
          <p:cNvPr id="13" name="Goal 3 icon" descr="Goal 3"/>
          <p:cNvPicPr>
            <a:picLocks noChangeAspect="1"/>
          </p:cNvPicPr>
          <p:nvPr/>
        </p:nvPicPr>
        <p:blipFill>
          <a:blip r:embed="rId5"/>
          <a:stretch>
            <a:fillRect/>
          </a:stretch>
        </p:blipFill>
        <p:spPr>
          <a:xfrm>
            <a:off x="594360" y="3337560"/>
            <a:ext cx="274320" cy="274320"/>
          </a:xfrm>
          <a:prstGeom prst="rect">
            <a:avLst/>
          </a:prstGeom>
        </p:spPr>
      </p:pic>
      <p:sp>
        <p:nvSpPr>
          <p:cNvPr id="14" name="Goal 3 title"/>
          <p:cNvSpPr txBox="1"/>
          <p:nvPr/>
        </p:nvSpPr>
        <p:spPr>
          <a:xfrm>
            <a:off x="1188720" y="3181967"/>
            <a:ext cx="3383280" cy="320040"/>
          </a:xfrm>
          <a:prstGeom prst="rect">
            <a:avLst/>
          </a:prstGeom>
          <a:noFill/>
          <a:ln/>
        </p:spPr>
        <p:txBody>
          <a:bodyPr wrap="square" lIns="0" tIns="0" rIns="0" bIns="0" rtlCol="0" anchor="ctr"/>
          <a:lstStyle/>
          <a:p>
            <a:pPr marL="0" indent="0">
              <a:buNone/>
            </a:pPr>
            <a:r>
              <a:rPr lang="en-US" sz="1600" b="1" dirty="0">
                <a:solidFill>
                  <a:srgbClr val="3D0A10"/>
                </a:solidFill>
              </a:rPr>
              <a:t>Optimise inventory</a:t>
            </a:r>
            <a:endParaRPr lang="en-US" sz="1600" dirty="0">
              <a:solidFill>
                <a:srgbClr val="3D0A10"/>
              </a:solidFill>
            </a:endParaRPr>
          </a:p>
        </p:txBody>
      </p:sp>
      <p:sp>
        <p:nvSpPr>
          <p:cNvPr id="15" name="Goal 3 text"/>
          <p:cNvSpPr txBox="1"/>
          <p:nvPr/>
        </p:nvSpPr>
        <p:spPr>
          <a:xfrm>
            <a:off x="1188720" y="3483864"/>
            <a:ext cx="3383280" cy="320040"/>
          </a:xfrm>
          <a:prstGeom prst="rect">
            <a:avLst/>
          </a:prstGeom>
          <a:noFill/>
          <a:ln/>
        </p:spPr>
        <p:txBody>
          <a:bodyPr wrap="square" lIns="0" tIns="0" rIns="0" bIns="0" rtlCol="0" anchor="t"/>
          <a:lstStyle/>
          <a:p>
            <a:pPr marL="0" indent="0">
              <a:buNone/>
            </a:pPr>
            <a:r>
              <a:rPr lang="en-US" sz="1200" dirty="0">
                <a:solidFill>
                  <a:srgbClr val="3D0A10"/>
                </a:solidFill>
              </a:rPr>
              <a:t>What is selling fast and what sits on the shelf</a:t>
            </a:r>
          </a:p>
        </p:txBody>
      </p:sp>
      <p:sp>
        <p:nvSpPr>
          <p:cNvPr id="16" name="Right label"/>
          <p:cNvSpPr txBox="1"/>
          <p:nvPr/>
        </p:nvSpPr>
        <p:spPr>
          <a:xfrm>
            <a:off x="4846320" y="1325880"/>
            <a:ext cx="3840480" cy="274320"/>
          </a:xfrm>
          <a:prstGeom prst="rect">
            <a:avLst/>
          </a:prstGeom>
          <a:noFill/>
          <a:ln/>
        </p:spPr>
        <p:txBody>
          <a:bodyPr wrap="square" lIns="0" tIns="0" rIns="0" bIns="0" rtlCol="0" anchor="ctr"/>
          <a:lstStyle/>
          <a:p>
            <a:pPr marL="0" indent="0">
              <a:buNone/>
            </a:pPr>
            <a:r>
              <a:rPr lang="en-US" sz="1200" b="1" dirty="0">
                <a:solidFill>
                  <a:srgbClr val="3D0A10"/>
                </a:solidFill>
              </a:rPr>
              <a:t>The data (4 tables)</a:t>
            </a:r>
            <a:endParaRPr lang="en-US" sz="1200" dirty="0">
              <a:solidFill>
                <a:srgbClr val="3D0A10"/>
              </a:solidFill>
            </a:endParaRPr>
          </a:p>
        </p:txBody>
      </p:sp>
      <p:sp>
        <p:nvSpPr>
          <p:cNvPr id="17" name="Table card Customers"/>
          <p:cNvSpPr/>
          <p:nvPr/>
        </p:nvSpPr>
        <p:spPr>
          <a:xfrm>
            <a:off x="4846320" y="1691640"/>
            <a:ext cx="1828800" cy="914400"/>
          </a:xfrm>
          <a:prstGeom prst="roundRect">
            <a:avLst>
              <a:gd name="adj" fmla="val 10000"/>
            </a:avLst>
          </a:prstGeom>
          <a:solidFill>
            <a:srgbClr val="E8D3C0"/>
          </a:solidFill>
          <a:ln/>
        </p:spPr>
      </p:sp>
      <p:sp>
        <p:nvSpPr>
          <p:cNvPr id="18" name="Table name Customers"/>
          <p:cNvSpPr txBox="1"/>
          <p:nvPr/>
        </p:nvSpPr>
        <p:spPr>
          <a:xfrm>
            <a:off x="4983480" y="1783080"/>
            <a:ext cx="1554480" cy="320040"/>
          </a:xfrm>
          <a:prstGeom prst="rect">
            <a:avLst/>
          </a:prstGeom>
          <a:noFill/>
          <a:ln/>
        </p:spPr>
        <p:txBody>
          <a:bodyPr wrap="square" lIns="0" tIns="0" rIns="0" bIns="0" rtlCol="0" anchor="ctr"/>
          <a:lstStyle/>
          <a:p>
            <a:pPr marL="0" indent="0">
              <a:buNone/>
            </a:pPr>
            <a:r>
              <a:rPr lang="en-US" sz="1600" b="1" dirty="0">
                <a:solidFill>
                  <a:schemeClr val="tx2"/>
                </a:solidFill>
              </a:rPr>
              <a:t>Customers</a:t>
            </a:r>
            <a:endParaRPr lang="en-US" sz="1600" dirty="0"/>
          </a:p>
        </p:txBody>
      </p:sp>
      <p:sp>
        <p:nvSpPr>
          <p:cNvPr id="19" name="Table text Customers"/>
          <p:cNvSpPr txBox="1"/>
          <p:nvPr/>
        </p:nvSpPr>
        <p:spPr>
          <a:xfrm>
            <a:off x="4983480" y="2148840"/>
            <a:ext cx="1554480" cy="365760"/>
          </a:xfrm>
          <a:prstGeom prst="rect">
            <a:avLst/>
          </a:prstGeom>
          <a:noFill/>
          <a:ln/>
        </p:spPr>
        <p:txBody>
          <a:bodyPr wrap="square" lIns="0" tIns="0" rIns="0" bIns="0" rtlCol="0" anchor="t"/>
          <a:lstStyle/>
          <a:p>
            <a:pPr marL="0" indent="0">
              <a:buNone/>
            </a:pPr>
            <a:r>
              <a:rPr lang="en-US" sz="1200" dirty="0">
                <a:solidFill>
                  <a:schemeClr val="tx1"/>
                </a:solidFill>
              </a:rPr>
              <a:t>7 columns: who buys</a:t>
            </a:r>
            <a:endParaRPr lang="en-US" sz="1200" dirty="0"/>
          </a:p>
        </p:txBody>
      </p:sp>
      <p:sp>
        <p:nvSpPr>
          <p:cNvPr id="20" name="Table card Products"/>
          <p:cNvSpPr/>
          <p:nvPr/>
        </p:nvSpPr>
        <p:spPr>
          <a:xfrm>
            <a:off x="6858000" y="1691640"/>
            <a:ext cx="1828800" cy="914400"/>
          </a:xfrm>
          <a:prstGeom prst="roundRect">
            <a:avLst>
              <a:gd name="adj" fmla="val 10000"/>
            </a:avLst>
          </a:prstGeom>
          <a:solidFill>
            <a:srgbClr val="E8D3C0"/>
          </a:solidFill>
          <a:ln/>
        </p:spPr>
      </p:sp>
      <p:sp>
        <p:nvSpPr>
          <p:cNvPr id="21" name="Table name Products"/>
          <p:cNvSpPr txBox="1"/>
          <p:nvPr/>
        </p:nvSpPr>
        <p:spPr>
          <a:xfrm>
            <a:off x="6995160" y="1783080"/>
            <a:ext cx="1554480" cy="320040"/>
          </a:xfrm>
          <a:prstGeom prst="rect">
            <a:avLst/>
          </a:prstGeom>
          <a:noFill/>
          <a:ln/>
        </p:spPr>
        <p:txBody>
          <a:bodyPr wrap="square" lIns="0" tIns="0" rIns="0" bIns="0" rtlCol="0" anchor="ctr"/>
          <a:lstStyle/>
          <a:p>
            <a:pPr marL="0" indent="0">
              <a:buNone/>
            </a:pPr>
            <a:r>
              <a:rPr lang="en-US" sz="1600" b="1" dirty="0">
                <a:solidFill>
                  <a:schemeClr val="tx2"/>
                </a:solidFill>
              </a:rPr>
              <a:t>Products</a:t>
            </a:r>
            <a:endParaRPr lang="en-US" sz="1600" dirty="0"/>
          </a:p>
        </p:txBody>
      </p:sp>
      <p:sp>
        <p:nvSpPr>
          <p:cNvPr id="22" name="Table text Products"/>
          <p:cNvSpPr txBox="1"/>
          <p:nvPr/>
        </p:nvSpPr>
        <p:spPr>
          <a:xfrm>
            <a:off x="6995160" y="2148840"/>
            <a:ext cx="1554480" cy="365760"/>
          </a:xfrm>
          <a:prstGeom prst="rect">
            <a:avLst/>
          </a:prstGeom>
          <a:noFill/>
          <a:ln/>
        </p:spPr>
        <p:txBody>
          <a:bodyPr wrap="square" lIns="0" tIns="0" rIns="0" bIns="0" rtlCol="0" anchor="t"/>
          <a:lstStyle/>
          <a:p>
            <a:pPr marL="0" indent="0">
              <a:buNone/>
            </a:pPr>
            <a:r>
              <a:rPr lang="en-US" sz="1200" dirty="0">
                <a:solidFill>
                  <a:schemeClr val="tx1"/>
                </a:solidFill>
              </a:rPr>
              <a:t>6 columns: what is sold</a:t>
            </a:r>
            <a:endParaRPr lang="en-US" sz="1200" dirty="0"/>
          </a:p>
        </p:txBody>
      </p:sp>
      <p:sp>
        <p:nvSpPr>
          <p:cNvPr id="23" name="Table card Orders"/>
          <p:cNvSpPr/>
          <p:nvPr/>
        </p:nvSpPr>
        <p:spPr>
          <a:xfrm>
            <a:off x="4846320" y="2788920"/>
            <a:ext cx="1828800" cy="914400"/>
          </a:xfrm>
          <a:prstGeom prst="roundRect">
            <a:avLst>
              <a:gd name="adj" fmla="val 10000"/>
            </a:avLst>
          </a:prstGeom>
          <a:solidFill>
            <a:srgbClr val="E8D3C0"/>
          </a:solidFill>
          <a:ln/>
        </p:spPr>
      </p:sp>
      <p:sp>
        <p:nvSpPr>
          <p:cNvPr id="24" name="Table name Orders"/>
          <p:cNvSpPr txBox="1"/>
          <p:nvPr/>
        </p:nvSpPr>
        <p:spPr>
          <a:xfrm>
            <a:off x="4983480" y="2880360"/>
            <a:ext cx="1554480" cy="320040"/>
          </a:xfrm>
          <a:prstGeom prst="rect">
            <a:avLst/>
          </a:prstGeom>
          <a:noFill/>
          <a:ln/>
        </p:spPr>
        <p:txBody>
          <a:bodyPr wrap="square" lIns="0" tIns="0" rIns="0" bIns="0" rtlCol="0" anchor="ctr"/>
          <a:lstStyle/>
          <a:p>
            <a:pPr marL="0" indent="0">
              <a:buNone/>
            </a:pPr>
            <a:r>
              <a:rPr lang="en-US" sz="1600" b="1" dirty="0">
                <a:solidFill>
                  <a:schemeClr val="tx2"/>
                </a:solidFill>
              </a:rPr>
              <a:t>Orders</a:t>
            </a:r>
            <a:endParaRPr lang="en-US" sz="1600" dirty="0"/>
          </a:p>
        </p:txBody>
      </p:sp>
      <p:sp>
        <p:nvSpPr>
          <p:cNvPr id="25" name="Table text Orders"/>
          <p:cNvSpPr txBox="1"/>
          <p:nvPr/>
        </p:nvSpPr>
        <p:spPr>
          <a:xfrm>
            <a:off x="4983480" y="3246120"/>
            <a:ext cx="1554480" cy="365760"/>
          </a:xfrm>
          <a:prstGeom prst="rect">
            <a:avLst/>
          </a:prstGeom>
          <a:noFill/>
          <a:ln/>
        </p:spPr>
        <p:txBody>
          <a:bodyPr wrap="square" lIns="0" tIns="0" rIns="0" bIns="0" rtlCol="0" anchor="t"/>
          <a:lstStyle/>
          <a:p>
            <a:pPr marL="0" indent="0">
              <a:buNone/>
            </a:pPr>
            <a:r>
              <a:rPr lang="en-US" sz="1200" dirty="0">
                <a:solidFill>
                  <a:schemeClr val="tx1"/>
                </a:solidFill>
              </a:rPr>
              <a:t>6 columns: what happened</a:t>
            </a:r>
            <a:endParaRPr lang="en-US" sz="1200" dirty="0"/>
          </a:p>
        </p:txBody>
      </p:sp>
      <p:sp>
        <p:nvSpPr>
          <p:cNvPr id="26" name="Table card SalesRep"/>
          <p:cNvSpPr/>
          <p:nvPr/>
        </p:nvSpPr>
        <p:spPr>
          <a:xfrm>
            <a:off x="6858000" y="2788920"/>
            <a:ext cx="1828800" cy="914400"/>
          </a:xfrm>
          <a:prstGeom prst="roundRect">
            <a:avLst>
              <a:gd name="adj" fmla="val 10000"/>
            </a:avLst>
          </a:prstGeom>
          <a:solidFill>
            <a:srgbClr val="E8D3C0"/>
          </a:solidFill>
          <a:ln/>
        </p:spPr>
      </p:sp>
      <p:sp>
        <p:nvSpPr>
          <p:cNvPr id="27" name="Table name SalesRep"/>
          <p:cNvSpPr txBox="1"/>
          <p:nvPr/>
        </p:nvSpPr>
        <p:spPr>
          <a:xfrm>
            <a:off x="6995160" y="2880360"/>
            <a:ext cx="1554480" cy="320040"/>
          </a:xfrm>
          <a:prstGeom prst="rect">
            <a:avLst/>
          </a:prstGeom>
          <a:noFill/>
          <a:ln/>
        </p:spPr>
        <p:txBody>
          <a:bodyPr wrap="square" lIns="0" tIns="0" rIns="0" bIns="0" rtlCol="0" anchor="ctr"/>
          <a:lstStyle/>
          <a:p>
            <a:pPr marL="0" indent="0">
              <a:buNone/>
            </a:pPr>
            <a:r>
              <a:rPr lang="en-US" sz="1600" b="1" dirty="0">
                <a:solidFill>
                  <a:schemeClr val="tx2"/>
                </a:solidFill>
              </a:rPr>
              <a:t>SalesRep</a:t>
            </a:r>
            <a:endParaRPr lang="en-US" sz="1600" dirty="0"/>
          </a:p>
        </p:txBody>
      </p:sp>
      <p:sp>
        <p:nvSpPr>
          <p:cNvPr id="28" name="Table text SalesRep"/>
          <p:cNvSpPr txBox="1"/>
          <p:nvPr/>
        </p:nvSpPr>
        <p:spPr>
          <a:xfrm>
            <a:off x="6995160" y="3246120"/>
            <a:ext cx="1554480" cy="365760"/>
          </a:xfrm>
          <a:prstGeom prst="rect">
            <a:avLst/>
          </a:prstGeom>
          <a:noFill/>
          <a:ln/>
        </p:spPr>
        <p:txBody>
          <a:bodyPr wrap="square" lIns="0" tIns="0" rIns="0" bIns="0" rtlCol="0" anchor="t"/>
          <a:lstStyle/>
          <a:p>
            <a:pPr marL="0" indent="0">
              <a:buNone/>
            </a:pPr>
            <a:r>
              <a:rPr lang="en-US" sz="1200" dirty="0">
                <a:solidFill>
                  <a:schemeClr val="tx1"/>
                </a:solidFill>
              </a:rPr>
              <a:t>4 columns: who sells</a:t>
            </a:r>
            <a:endParaRPr lang="en-US" sz="1200" dirty="0"/>
          </a:p>
        </p:txBody>
      </p:sp>
      <p:sp>
        <p:nvSpPr>
          <p:cNvPr id="30" name="Rule 1 text"/>
          <p:cNvSpPr txBox="1"/>
          <p:nvPr/>
        </p:nvSpPr>
        <p:spPr>
          <a:xfrm>
            <a:off x="640080" y="3931920"/>
            <a:ext cx="3657600" cy="685800"/>
          </a:xfrm>
          <a:prstGeom prst="rect">
            <a:avLst/>
          </a:prstGeom>
          <a:noFill/>
          <a:ln/>
        </p:spPr>
        <p:txBody>
          <a:bodyPr wrap="square" lIns="0" tIns="0" rIns="0" bIns="0" rtlCol="0" anchor="ctr"/>
          <a:lstStyle/>
          <a:p>
            <a:pPr marL="0" indent="0">
              <a:buNone/>
            </a:pPr>
            <a:r>
              <a:rPr lang="en-US" sz="1400" b="1" dirty="0">
                <a:solidFill>
                  <a:schemeClr val="bg1"/>
                </a:solidFill>
              </a:rPr>
              <a:t>Rule 1: only Completed orders count as sales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$147,140 in revenue from 163 orders</a:t>
            </a:r>
            <a:endParaRPr lang="en-US" sz="3200" dirty="0">
              <a:solidFill>
                <a:srgbClr val="3D0A10"/>
              </a:solidFill>
            </a:endParaRPr>
          </a:p>
        </p:txBody>
      </p:sp>
      <p:sp>
        <p:nvSpPr>
          <p:cNvPr id="3" name="Stat card total revenue"/>
          <p:cNvSpPr/>
          <p:nvPr/>
        </p:nvSpPr>
        <p:spPr>
          <a:xfrm>
            <a:off x="457200" y="1371600"/>
            <a:ext cx="2011680" cy="1463040"/>
          </a:xfrm>
          <a:prstGeom prst="roundRect">
            <a:avLst>
              <a:gd name="adj" fmla="val 6250"/>
            </a:avLst>
          </a:prstGeom>
          <a:solidFill>
            <a:srgbClr val="E8D3C0"/>
          </a:solidFill>
          <a:ln/>
        </p:spPr>
      </p:sp>
      <p:sp>
        <p:nvSpPr>
          <p:cNvPr id="4" name="Stat total revenue"/>
          <p:cNvSpPr txBox="1"/>
          <p:nvPr/>
        </p:nvSpPr>
        <p:spPr>
          <a:xfrm>
            <a:off x="640080" y="1600200"/>
            <a:ext cx="1645920" cy="640080"/>
          </a:xfrm>
          <a:prstGeom prst="rect">
            <a:avLst/>
          </a:prstGeom>
          <a:noFill/>
          <a:ln/>
        </p:spPr>
        <p:txBody>
          <a:bodyPr wrap="square" lIns="0" tIns="0" rIns="0" bIns="0" rtlCol="0" anchor="ctr"/>
          <a:lstStyle/>
          <a:p>
            <a:pPr marL="0" indent="0">
              <a:buNone/>
            </a:pPr>
            <a:r>
              <a:rPr lang="en-US" sz="3400" b="1" dirty="0">
                <a:solidFill>
                  <a:srgbClr val="3D0A10"/>
                </a:solidFill>
              </a:rPr>
              <a:t>$147,140</a:t>
            </a:r>
            <a:endParaRPr lang="en-US" sz="3400" dirty="0">
              <a:solidFill>
                <a:srgbClr val="3D0A10"/>
              </a:solidFill>
            </a:endParaRPr>
          </a:p>
        </p:txBody>
      </p:sp>
      <p:sp>
        <p:nvSpPr>
          <p:cNvPr id="5" name="Stat label total revenue"/>
          <p:cNvSpPr txBox="1"/>
          <p:nvPr/>
        </p:nvSpPr>
        <p:spPr>
          <a:xfrm>
            <a:off x="640080" y="2267712"/>
            <a:ext cx="1645920" cy="365760"/>
          </a:xfrm>
          <a:prstGeom prst="rect">
            <a:avLst/>
          </a:prstGeom>
          <a:noFill/>
          <a:ln/>
        </p:spPr>
        <p:txBody>
          <a:bodyPr wrap="square" lIns="0" tIns="0" rIns="0" bIns="0" rtlCol="0" anchor="t"/>
          <a:lstStyle/>
          <a:p>
            <a:pPr marL="0" indent="0">
              <a:buNone/>
            </a:pPr>
            <a:r>
              <a:rPr lang="en-US" sz="1400" dirty="0">
                <a:solidFill>
                  <a:srgbClr val="3D0A10"/>
                </a:solidFill>
              </a:rPr>
              <a:t>total revenue</a:t>
            </a:r>
          </a:p>
        </p:txBody>
      </p:sp>
      <p:sp>
        <p:nvSpPr>
          <p:cNvPr id="6" name="Stat card completed orders"/>
          <p:cNvSpPr/>
          <p:nvPr/>
        </p:nvSpPr>
        <p:spPr>
          <a:xfrm>
            <a:off x="2651760" y="1371600"/>
            <a:ext cx="2011680" cy="1463040"/>
          </a:xfrm>
          <a:prstGeom prst="roundRect">
            <a:avLst>
              <a:gd name="adj" fmla="val 6250"/>
            </a:avLst>
          </a:prstGeom>
          <a:solidFill>
            <a:srgbClr val="E8D3C0"/>
          </a:solidFill>
          <a:ln/>
        </p:spPr>
      </p:sp>
      <p:sp>
        <p:nvSpPr>
          <p:cNvPr id="7" name="Stat completed orders"/>
          <p:cNvSpPr txBox="1"/>
          <p:nvPr/>
        </p:nvSpPr>
        <p:spPr>
          <a:xfrm>
            <a:off x="2834640" y="1600200"/>
            <a:ext cx="1645920" cy="640080"/>
          </a:xfrm>
          <a:prstGeom prst="rect">
            <a:avLst/>
          </a:prstGeom>
          <a:noFill/>
          <a:ln/>
        </p:spPr>
        <p:txBody>
          <a:bodyPr wrap="square" lIns="0" tIns="0" rIns="0" bIns="0" rtlCol="0" anchor="ctr"/>
          <a:lstStyle/>
          <a:p>
            <a:pPr marL="0" indent="0">
              <a:buNone/>
            </a:pPr>
            <a:r>
              <a:rPr lang="en-US" sz="3400" b="1" dirty="0">
                <a:solidFill>
                  <a:srgbClr val="3D0A10"/>
                </a:solidFill>
              </a:rPr>
              <a:t>163</a:t>
            </a:r>
            <a:endParaRPr lang="en-US" sz="3400" dirty="0">
              <a:solidFill>
                <a:srgbClr val="3D0A10"/>
              </a:solidFill>
            </a:endParaRPr>
          </a:p>
        </p:txBody>
      </p:sp>
      <p:sp>
        <p:nvSpPr>
          <p:cNvPr id="8" name="Stat label completed orders"/>
          <p:cNvSpPr txBox="1"/>
          <p:nvPr/>
        </p:nvSpPr>
        <p:spPr>
          <a:xfrm>
            <a:off x="2834640" y="2267712"/>
            <a:ext cx="1645920" cy="365760"/>
          </a:xfrm>
          <a:prstGeom prst="rect">
            <a:avLst/>
          </a:prstGeom>
          <a:noFill/>
          <a:ln/>
        </p:spPr>
        <p:txBody>
          <a:bodyPr wrap="square" lIns="0" tIns="0" rIns="0" bIns="0" rtlCol="0" anchor="t"/>
          <a:lstStyle/>
          <a:p>
            <a:pPr marL="0" indent="0">
              <a:buNone/>
            </a:pPr>
            <a:r>
              <a:rPr lang="en-US" sz="1400" dirty="0">
                <a:solidFill>
                  <a:srgbClr val="3D0A10"/>
                </a:solidFill>
              </a:rPr>
              <a:t>completed orders</a:t>
            </a:r>
          </a:p>
        </p:txBody>
      </p:sp>
      <p:sp>
        <p:nvSpPr>
          <p:cNvPr id="9" name="Stat card active customers"/>
          <p:cNvSpPr/>
          <p:nvPr/>
        </p:nvSpPr>
        <p:spPr>
          <a:xfrm>
            <a:off x="457200" y="3017520"/>
            <a:ext cx="2011680" cy="1463040"/>
          </a:xfrm>
          <a:prstGeom prst="roundRect">
            <a:avLst>
              <a:gd name="adj" fmla="val 6250"/>
            </a:avLst>
          </a:prstGeom>
          <a:solidFill>
            <a:srgbClr val="E8D3C0"/>
          </a:solidFill>
          <a:ln/>
        </p:spPr>
      </p:sp>
      <p:sp>
        <p:nvSpPr>
          <p:cNvPr id="10" name="Stat active customers"/>
          <p:cNvSpPr txBox="1"/>
          <p:nvPr/>
        </p:nvSpPr>
        <p:spPr>
          <a:xfrm>
            <a:off x="640080" y="3246120"/>
            <a:ext cx="1645920" cy="640080"/>
          </a:xfrm>
          <a:prstGeom prst="rect">
            <a:avLst/>
          </a:prstGeom>
          <a:noFill/>
          <a:ln/>
        </p:spPr>
        <p:txBody>
          <a:bodyPr wrap="square" lIns="0" tIns="0" rIns="0" bIns="0" rtlCol="0" anchor="ctr"/>
          <a:lstStyle/>
          <a:p>
            <a:pPr marL="0" indent="0">
              <a:buNone/>
            </a:pPr>
            <a:r>
              <a:rPr lang="en-US" sz="3400" b="1" dirty="0">
                <a:solidFill>
                  <a:srgbClr val="3D0A10"/>
                </a:solidFill>
              </a:rPr>
              <a:t>18</a:t>
            </a:r>
            <a:endParaRPr lang="en-US" sz="3400" dirty="0">
              <a:solidFill>
                <a:srgbClr val="3D0A10"/>
              </a:solidFill>
            </a:endParaRPr>
          </a:p>
        </p:txBody>
      </p:sp>
      <p:sp>
        <p:nvSpPr>
          <p:cNvPr id="11" name="Stat label active customers"/>
          <p:cNvSpPr txBox="1"/>
          <p:nvPr/>
        </p:nvSpPr>
        <p:spPr>
          <a:xfrm>
            <a:off x="640080" y="3913632"/>
            <a:ext cx="1645920" cy="365760"/>
          </a:xfrm>
          <a:prstGeom prst="rect">
            <a:avLst/>
          </a:prstGeom>
          <a:noFill/>
          <a:ln/>
        </p:spPr>
        <p:txBody>
          <a:bodyPr wrap="square" lIns="0" tIns="0" rIns="0" bIns="0" rtlCol="0" anchor="t"/>
          <a:lstStyle/>
          <a:p>
            <a:pPr marL="0" indent="0">
              <a:buNone/>
            </a:pPr>
            <a:r>
              <a:rPr lang="en-US" sz="1400" dirty="0">
                <a:solidFill>
                  <a:srgbClr val="3D0A10"/>
                </a:solidFill>
              </a:rPr>
              <a:t>active customers</a:t>
            </a:r>
          </a:p>
        </p:txBody>
      </p:sp>
      <p:sp>
        <p:nvSpPr>
          <p:cNvPr id="12" name="Stat card average order value"/>
          <p:cNvSpPr/>
          <p:nvPr/>
        </p:nvSpPr>
        <p:spPr>
          <a:xfrm>
            <a:off x="2651760" y="3017520"/>
            <a:ext cx="2011680" cy="1463040"/>
          </a:xfrm>
          <a:prstGeom prst="roundRect">
            <a:avLst>
              <a:gd name="adj" fmla="val 6250"/>
            </a:avLst>
          </a:prstGeom>
          <a:solidFill>
            <a:srgbClr val="E8D3C0"/>
          </a:solidFill>
          <a:ln/>
        </p:spPr>
      </p:sp>
      <p:sp>
        <p:nvSpPr>
          <p:cNvPr id="13" name="Stat average order value"/>
          <p:cNvSpPr txBox="1"/>
          <p:nvPr/>
        </p:nvSpPr>
        <p:spPr>
          <a:xfrm>
            <a:off x="2834640" y="3246120"/>
            <a:ext cx="1645920" cy="640080"/>
          </a:xfrm>
          <a:prstGeom prst="rect">
            <a:avLst/>
          </a:prstGeom>
          <a:noFill/>
          <a:ln/>
        </p:spPr>
        <p:txBody>
          <a:bodyPr wrap="square" lIns="0" tIns="0" rIns="0" bIns="0" rtlCol="0" anchor="ctr"/>
          <a:lstStyle/>
          <a:p>
            <a:pPr marL="0" indent="0">
              <a:buNone/>
            </a:pPr>
            <a:r>
              <a:rPr lang="en-US" sz="3400" b="1" dirty="0">
                <a:solidFill>
                  <a:srgbClr val="3D0A10"/>
                </a:solidFill>
              </a:rPr>
              <a:t>$903</a:t>
            </a:r>
            <a:endParaRPr lang="en-US" sz="3400" dirty="0">
              <a:solidFill>
                <a:srgbClr val="3D0A10"/>
              </a:solidFill>
            </a:endParaRPr>
          </a:p>
        </p:txBody>
      </p:sp>
      <p:sp>
        <p:nvSpPr>
          <p:cNvPr id="14" name="Stat label average order value"/>
          <p:cNvSpPr txBox="1"/>
          <p:nvPr/>
        </p:nvSpPr>
        <p:spPr>
          <a:xfrm>
            <a:off x="2834640" y="3913632"/>
            <a:ext cx="1645920" cy="365760"/>
          </a:xfrm>
          <a:prstGeom prst="rect">
            <a:avLst/>
          </a:prstGeom>
          <a:noFill/>
          <a:ln/>
        </p:spPr>
        <p:txBody>
          <a:bodyPr wrap="square" lIns="0" tIns="0" rIns="0" bIns="0" rtlCol="0" anchor="t"/>
          <a:lstStyle/>
          <a:p>
            <a:pPr marL="0" indent="0">
              <a:buNone/>
            </a:pPr>
            <a:r>
              <a:rPr lang="en-US" sz="1400" dirty="0">
                <a:solidFill>
                  <a:srgbClr val="3D0A10"/>
                </a:solidFill>
              </a:rPr>
              <a:t>average order value</a:t>
            </a:r>
          </a:p>
        </p:txBody>
      </p:sp>
      <p:graphicFrame>
        <p:nvGraphicFramePr>
          <p:cNvPr id="15" name="Order status chart"/>
          <p:cNvGraphicFramePr/>
          <p:nvPr>
            <p:extLst>
              <p:ext uri="{D42A27DB-BD31-4B8C-83A1-F6EECF244321}">
                <p14:modId xmlns:p14="http://schemas.microsoft.com/office/powerpoint/2010/main" val="331667728"/>
              </p:ext>
            </p:extLst>
          </p:nvPr>
        </p:nvGraphicFramePr>
        <p:xfrm>
          <a:off x="4937760" y="1325880"/>
          <a:ext cx="37490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Ten customers drive 86% of sales</a:t>
            </a:r>
            <a:endParaRPr lang="en-US" sz="3200" dirty="0">
              <a:solidFill>
                <a:srgbClr val="3D0A10"/>
              </a:solidFill>
            </a:endParaRPr>
          </a:p>
        </p:txBody>
      </p:sp>
      <p:graphicFrame>
        <p:nvGraphicFramePr>
          <p:cNvPr id="3" name="Top 10 customers by purchase value"/>
          <p:cNvGraphicFramePr/>
          <p:nvPr>
            <p:extLst>
              <p:ext uri="{D42A27DB-BD31-4B8C-83A1-F6EECF244321}">
                <p14:modId xmlns:p14="http://schemas.microsoft.com/office/powerpoint/2010/main" val="3170337242"/>
              </p:ext>
            </p:extLst>
          </p:nvPr>
        </p:nvGraphicFramePr>
        <p:xfrm>
          <a:off x="457200" y="1325880"/>
          <a:ext cx="53035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Top 10 share card"/>
          <p:cNvSpPr/>
          <p:nvPr/>
        </p:nvSpPr>
        <p:spPr>
          <a:xfrm>
            <a:off x="6035040" y="1371600"/>
            <a:ext cx="2651760" cy="960120"/>
          </a:xfrm>
          <a:prstGeom prst="roundRect">
            <a:avLst>
              <a:gd name="adj" fmla="val 9524"/>
            </a:avLst>
          </a:prstGeom>
          <a:solidFill>
            <a:srgbClr val="E8D3C0"/>
          </a:solidFill>
          <a:ln/>
        </p:spPr>
      </p:sp>
      <p:sp>
        <p:nvSpPr>
          <p:cNvPr id="5" name="Top 10 share number"/>
          <p:cNvSpPr txBox="1"/>
          <p:nvPr/>
        </p:nvSpPr>
        <p:spPr>
          <a:xfrm>
            <a:off x="6199632" y="1426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86%</a:t>
            </a:r>
            <a:endParaRPr lang="en-US" sz="2600" dirty="0">
              <a:solidFill>
                <a:srgbClr val="3D0A10"/>
              </a:solidFill>
            </a:endParaRPr>
          </a:p>
        </p:txBody>
      </p:sp>
      <p:sp>
        <p:nvSpPr>
          <p:cNvPr id="6" name="Top 10 share label"/>
          <p:cNvSpPr txBox="1"/>
          <p:nvPr/>
        </p:nvSpPr>
        <p:spPr>
          <a:xfrm>
            <a:off x="6199632" y="1847088"/>
            <a:ext cx="2322576" cy="420624"/>
          </a:xfrm>
          <a:prstGeom prst="rect">
            <a:avLst/>
          </a:prstGeom>
          <a:noFill/>
          <a:ln/>
        </p:spPr>
        <p:txBody>
          <a:bodyPr wrap="square" lIns="0" tIns="0" rIns="0" bIns="0" rtlCol="0" anchor="t"/>
          <a:lstStyle/>
          <a:p>
            <a:pPr marL="0" indent="0">
              <a:buNone/>
            </a:pPr>
            <a:r>
              <a:rPr lang="en-US" sz="1300" dirty="0">
                <a:solidFill>
                  <a:srgbClr val="3D0A10"/>
                </a:solidFill>
              </a:rPr>
              <a:t>of revenue comes from the top 10 customers</a:t>
            </a:r>
          </a:p>
        </p:txBody>
      </p:sp>
      <p:sp>
        <p:nvSpPr>
          <p:cNvPr id="7" name="Inactive customers card"/>
          <p:cNvSpPr/>
          <p:nvPr/>
        </p:nvSpPr>
        <p:spPr>
          <a:xfrm>
            <a:off x="6035040" y="2500884"/>
            <a:ext cx="2651760" cy="960120"/>
          </a:xfrm>
          <a:prstGeom prst="roundRect">
            <a:avLst>
              <a:gd name="adj" fmla="val 9524"/>
            </a:avLst>
          </a:prstGeom>
          <a:solidFill>
            <a:srgbClr val="E8D3C0"/>
          </a:solidFill>
          <a:ln/>
        </p:spPr>
        <p:txBody>
          <a:bodyPr/>
          <a:lstStyle/>
          <a:p>
            <a:endParaRPr lang="en-US" dirty="0"/>
          </a:p>
        </p:txBody>
      </p:sp>
      <p:sp>
        <p:nvSpPr>
          <p:cNvPr id="8" name="Inactive customers number"/>
          <p:cNvSpPr txBox="1"/>
          <p:nvPr/>
        </p:nvSpPr>
        <p:spPr>
          <a:xfrm>
            <a:off x="6199632" y="2569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9</a:t>
            </a:r>
            <a:endParaRPr lang="en-US" sz="2600" dirty="0">
              <a:solidFill>
                <a:srgbClr val="3D0A10"/>
              </a:solidFill>
            </a:endParaRPr>
          </a:p>
        </p:txBody>
      </p:sp>
      <p:sp>
        <p:nvSpPr>
          <p:cNvPr id="9" name="Inactive customers label"/>
          <p:cNvSpPr txBox="1"/>
          <p:nvPr/>
        </p:nvSpPr>
        <p:spPr>
          <a:xfrm>
            <a:off x="6199632" y="2990088"/>
            <a:ext cx="2322576" cy="420624"/>
          </a:xfrm>
          <a:prstGeom prst="rect">
            <a:avLst/>
          </a:prstGeom>
          <a:noFill/>
          <a:ln/>
        </p:spPr>
        <p:txBody>
          <a:bodyPr wrap="square" lIns="0" tIns="0" rIns="0" bIns="0" rtlCol="0" anchor="t"/>
          <a:lstStyle/>
          <a:p>
            <a:pPr marL="0" indent="0">
              <a:buNone/>
            </a:pPr>
            <a:r>
              <a:rPr lang="en-US" sz="1300" dirty="0">
                <a:solidFill>
                  <a:srgbClr val="3D0A10"/>
                </a:solidFill>
              </a:rPr>
              <a:t>inactive customers: a win-back target</a:t>
            </a:r>
          </a:p>
        </p:txBody>
      </p:sp>
      <p:sp>
        <p:nvSpPr>
          <p:cNvPr id="10" name="Top country card"/>
          <p:cNvSpPr/>
          <p:nvPr/>
        </p:nvSpPr>
        <p:spPr>
          <a:xfrm>
            <a:off x="6035040" y="3657600"/>
            <a:ext cx="2651760" cy="960120"/>
          </a:xfrm>
          <a:prstGeom prst="roundRect">
            <a:avLst>
              <a:gd name="adj" fmla="val 9524"/>
            </a:avLst>
          </a:prstGeom>
          <a:solidFill>
            <a:srgbClr val="E8D3C0"/>
          </a:solidFill>
          <a:ln/>
        </p:spPr>
      </p:sp>
      <p:sp>
        <p:nvSpPr>
          <p:cNvPr id="11" name="Top country number"/>
          <p:cNvSpPr txBox="1"/>
          <p:nvPr/>
        </p:nvSpPr>
        <p:spPr>
          <a:xfrm>
            <a:off x="6199632" y="3712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USA</a:t>
            </a:r>
            <a:endParaRPr lang="en-US" sz="2600" dirty="0">
              <a:solidFill>
                <a:srgbClr val="3D0A10"/>
              </a:solidFill>
            </a:endParaRPr>
          </a:p>
        </p:txBody>
      </p:sp>
      <p:sp>
        <p:nvSpPr>
          <p:cNvPr id="12" name="Top country label"/>
          <p:cNvSpPr txBox="1"/>
          <p:nvPr/>
        </p:nvSpPr>
        <p:spPr>
          <a:xfrm>
            <a:off x="6199632" y="4133088"/>
            <a:ext cx="2322576" cy="420624"/>
          </a:xfrm>
          <a:prstGeom prst="rect">
            <a:avLst/>
          </a:prstGeom>
          <a:noFill/>
          <a:ln/>
        </p:spPr>
        <p:txBody>
          <a:bodyPr wrap="square" lIns="0" tIns="0" rIns="0" bIns="0" rtlCol="0" anchor="t"/>
          <a:lstStyle/>
          <a:p>
            <a:pPr marL="0" indent="0">
              <a:buNone/>
            </a:pPr>
            <a:r>
              <a:rPr lang="en-US" sz="1300" dirty="0">
                <a:solidFill>
                  <a:srgbClr val="3D0A10"/>
                </a:solidFill>
              </a:rPr>
              <a:t>is the top country ($28,380), then India ($22,220)</a:t>
            </a: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Ages 25-44 bring in 92% of sales</a:t>
            </a:r>
            <a:endParaRPr lang="en-US" sz="3200" dirty="0">
              <a:solidFill>
                <a:srgbClr val="3D0A10"/>
              </a:solidFill>
            </a:endParaRPr>
          </a:p>
        </p:txBody>
      </p:sp>
      <p:graphicFrame>
        <p:nvGraphicFramePr>
          <p:cNvPr id="3" name="Revenue by age group chart"/>
          <p:cNvGraphicFramePr/>
          <p:nvPr>
            <p:extLst>
              <p:ext uri="{D42A27DB-BD31-4B8C-83A1-F6EECF244321}">
                <p14:modId xmlns:p14="http://schemas.microsoft.com/office/powerpoint/2010/main" val="1109927161"/>
              </p:ext>
            </p:extLst>
          </p:nvPr>
        </p:nvGraphicFramePr>
        <p:xfrm>
          <a:off x="566928" y="1335024"/>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Male revenue card"/>
          <p:cNvSpPr/>
          <p:nvPr/>
        </p:nvSpPr>
        <p:spPr>
          <a:xfrm>
            <a:off x="5669280" y="1371600"/>
            <a:ext cx="3017520" cy="960120"/>
          </a:xfrm>
          <a:prstGeom prst="roundRect">
            <a:avLst>
              <a:gd name="adj" fmla="val 9524"/>
            </a:avLst>
          </a:prstGeom>
          <a:solidFill>
            <a:srgbClr val="E8D3C0"/>
          </a:solidFill>
          <a:ln/>
        </p:spPr>
      </p:sp>
      <p:sp>
        <p:nvSpPr>
          <p:cNvPr id="5" name="Male revenue number"/>
          <p:cNvSpPr txBox="1"/>
          <p:nvPr/>
        </p:nvSpPr>
        <p:spPr>
          <a:xfrm>
            <a:off x="5833872" y="1426464"/>
            <a:ext cx="2688336" cy="411480"/>
          </a:xfrm>
          <a:prstGeom prst="rect">
            <a:avLst/>
          </a:prstGeom>
          <a:noFill/>
          <a:ln/>
        </p:spPr>
        <p:txBody>
          <a:bodyPr wrap="square" lIns="0" tIns="0" rIns="0" bIns="0" rtlCol="0" anchor="ctr"/>
          <a:lstStyle/>
          <a:p>
            <a:pPr marL="0" indent="0">
              <a:buNone/>
            </a:pPr>
            <a:r>
              <a:rPr lang="en-US" sz="2600" b="1" dirty="0">
                <a:solidFill>
                  <a:srgbClr val="3D0A10"/>
                </a:solidFill>
              </a:rPr>
              <a:t>$91,395</a:t>
            </a:r>
            <a:endParaRPr lang="en-US" sz="2600" dirty="0">
              <a:solidFill>
                <a:srgbClr val="3D0A10"/>
              </a:solidFill>
            </a:endParaRPr>
          </a:p>
        </p:txBody>
      </p:sp>
      <p:sp>
        <p:nvSpPr>
          <p:cNvPr id="6" name="Male revenue label"/>
          <p:cNvSpPr txBox="1"/>
          <p:nvPr/>
        </p:nvSpPr>
        <p:spPr>
          <a:xfrm>
            <a:off x="5833872" y="1847088"/>
            <a:ext cx="2688336" cy="420624"/>
          </a:xfrm>
          <a:prstGeom prst="rect">
            <a:avLst/>
          </a:prstGeom>
          <a:noFill/>
          <a:ln/>
        </p:spPr>
        <p:txBody>
          <a:bodyPr wrap="square" lIns="0" tIns="0" rIns="0" bIns="0" rtlCol="0" anchor="t"/>
          <a:lstStyle/>
          <a:p>
            <a:pPr marL="0" indent="0">
              <a:buNone/>
            </a:pPr>
            <a:r>
              <a:rPr lang="en-US" sz="1300" dirty="0">
                <a:solidFill>
                  <a:srgbClr val="3D0A10"/>
                </a:solidFill>
              </a:rPr>
              <a:t>from male customers (9 customers)</a:t>
            </a:r>
          </a:p>
        </p:txBody>
      </p:sp>
      <p:sp>
        <p:nvSpPr>
          <p:cNvPr id="7" name="Female revenue card"/>
          <p:cNvSpPr/>
          <p:nvPr/>
        </p:nvSpPr>
        <p:spPr>
          <a:xfrm>
            <a:off x="5669280" y="2514600"/>
            <a:ext cx="3017520" cy="960120"/>
          </a:xfrm>
          <a:prstGeom prst="roundRect">
            <a:avLst>
              <a:gd name="adj" fmla="val 9524"/>
            </a:avLst>
          </a:prstGeom>
          <a:solidFill>
            <a:srgbClr val="E8D3C0"/>
          </a:solidFill>
          <a:ln/>
        </p:spPr>
      </p:sp>
      <p:sp>
        <p:nvSpPr>
          <p:cNvPr id="8" name="Female revenue number"/>
          <p:cNvSpPr txBox="1"/>
          <p:nvPr/>
        </p:nvSpPr>
        <p:spPr>
          <a:xfrm>
            <a:off x="5833872" y="2569464"/>
            <a:ext cx="2688336" cy="411480"/>
          </a:xfrm>
          <a:prstGeom prst="rect">
            <a:avLst/>
          </a:prstGeom>
          <a:noFill/>
          <a:ln/>
        </p:spPr>
        <p:txBody>
          <a:bodyPr wrap="square" lIns="0" tIns="0" rIns="0" bIns="0" rtlCol="0" anchor="ctr"/>
          <a:lstStyle/>
          <a:p>
            <a:pPr marL="0" indent="0">
              <a:buNone/>
            </a:pPr>
            <a:r>
              <a:rPr lang="en-US" sz="2600" b="1" dirty="0">
                <a:solidFill>
                  <a:srgbClr val="3D0A10"/>
                </a:solidFill>
              </a:rPr>
              <a:t>$55,745</a:t>
            </a:r>
            <a:endParaRPr lang="en-US" sz="2600" dirty="0">
              <a:solidFill>
                <a:srgbClr val="3D0A10"/>
              </a:solidFill>
            </a:endParaRPr>
          </a:p>
        </p:txBody>
      </p:sp>
      <p:sp>
        <p:nvSpPr>
          <p:cNvPr id="9" name="Female revenue label"/>
          <p:cNvSpPr txBox="1"/>
          <p:nvPr/>
        </p:nvSpPr>
        <p:spPr>
          <a:xfrm>
            <a:off x="5833872" y="2990088"/>
            <a:ext cx="2688336" cy="420624"/>
          </a:xfrm>
          <a:prstGeom prst="rect">
            <a:avLst/>
          </a:prstGeom>
          <a:noFill/>
          <a:ln/>
        </p:spPr>
        <p:txBody>
          <a:bodyPr wrap="square" lIns="0" tIns="0" rIns="0" bIns="0" rtlCol="0" anchor="t"/>
          <a:lstStyle/>
          <a:p>
            <a:pPr marL="0" indent="0">
              <a:buNone/>
            </a:pPr>
            <a:r>
              <a:rPr lang="en-US" sz="1300" dirty="0">
                <a:solidFill>
                  <a:srgbClr val="3D0A10"/>
                </a:solidFill>
              </a:rPr>
              <a:t>from female customers (9 customers</a:t>
            </a:r>
            <a:r>
              <a:rPr lang="en-US" sz="1300" dirty="0">
                <a:solidFill>
                  <a:schemeClr val="tx1"/>
                </a:solidFill>
              </a:rPr>
              <a:t>)</a:t>
            </a:r>
            <a:endParaRPr lang="en-US" sz="1300" dirty="0"/>
          </a:p>
        </p:txBody>
      </p:sp>
      <p:sp>
        <p:nvSpPr>
          <p:cNvPr id="10" name="Gender gap card"/>
          <p:cNvSpPr/>
          <p:nvPr/>
        </p:nvSpPr>
        <p:spPr>
          <a:xfrm>
            <a:off x="5669280" y="3657600"/>
            <a:ext cx="3017520" cy="960120"/>
          </a:xfrm>
          <a:prstGeom prst="roundRect">
            <a:avLst>
              <a:gd name="adj" fmla="val 9524"/>
            </a:avLst>
          </a:prstGeom>
          <a:solidFill>
            <a:srgbClr val="E8D3C0"/>
          </a:solidFill>
          <a:ln/>
        </p:spPr>
      </p:sp>
      <p:sp>
        <p:nvSpPr>
          <p:cNvPr id="11" name="Gender gap number"/>
          <p:cNvSpPr txBox="1"/>
          <p:nvPr/>
        </p:nvSpPr>
        <p:spPr>
          <a:xfrm>
            <a:off x="5833872" y="3712464"/>
            <a:ext cx="2688336" cy="411480"/>
          </a:xfrm>
          <a:prstGeom prst="rect">
            <a:avLst/>
          </a:prstGeom>
          <a:noFill/>
          <a:ln/>
        </p:spPr>
        <p:txBody>
          <a:bodyPr wrap="square" lIns="0" tIns="0" rIns="0" bIns="0" rtlCol="0" anchor="ctr"/>
          <a:lstStyle/>
          <a:p>
            <a:pPr marL="0" indent="0">
              <a:buNone/>
            </a:pPr>
            <a:r>
              <a:rPr lang="en-US" sz="2600" b="1" dirty="0">
                <a:solidFill>
                  <a:srgbClr val="3D0A10"/>
                </a:solidFill>
              </a:rPr>
              <a:t>+64%</a:t>
            </a:r>
            <a:endParaRPr lang="en-US" sz="2600" dirty="0">
              <a:solidFill>
                <a:srgbClr val="3D0A10"/>
              </a:solidFill>
            </a:endParaRPr>
          </a:p>
        </p:txBody>
      </p:sp>
      <p:sp>
        <p:nvSpPr>
          <p:cNvPr id="12" name="Gender gap label"/>
          <p:cNvSpPr txBox="1"/>
          <p:nvPr/>
        </p:nvSpPr>
        <p:spPr>
          <a:xfrm>
            <a:off x="5833872" y="4133088"/>
            <a:ext cx="2688336" cy="420624"/>
          </a:xfrm>
          <a:prstGeom prst="rect">
            <a:avLst/>
          </a:prstGeom>
          <a:noFill/>
          <a:ln/>
        </p:spPr>
        <p:txBody>
          <a:bodyPr wrap="square" lIns="0" tIns="0" rIns="0" bIns="0" rtlCol="0" anchor="t"/>
          <a:lstStyle/>
          <a:p>
            <a:pPr marL="0" indent="0">
              <a:buNone/>
            </a:pPr>
            <a:r>
              <a:rPr lang="en-US" sz="1300" dirty="0">
                <a:solidFill>
                  <a:srgbClr val="3D0A10"/>
                </a:solidFill>
              </a:rPr>
              <a:t>more total spend from males, with the same number of customers</a:t>
            </a: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Top sellers are not top earners</a:t>
            </a:r>
            <a:endParaRPr lang="en-US" sz="3200" dirty="0">
              <a:solidFill>
                <a:srgbClr val="3D0A10"/>
              </a:solidFill>
            </a:endParaRPr>
          </a:p>
        </p:txBody>
      </p:sp>
      <p:graphicFrame>
        <p:nvGraphicFramePr>
          <p:cNvPr id="3" name="Top 6 products by revenue"/>
          <p:cNvGraphicFramePr/>
          <p:nvPr>
            <p:extLst>
              <p:ext uri="{D42A27DB-BD31-4B8C-83A1-F6EECF244321}">
                <p14:modId xmlns:p14="http://schemas.microsoft.com/office/powerpoint/2010/main" val="2464500195"/>
              </p:ext>
            </p:extLst>
          </p:nvPr>
        </p:nvGraphicFramePr>
        <p:xfrm>
          <a:off x="457200" y="1325880"/>
          <a:ext cx="53035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Most units card"/>
          <p:cNvSpPr/>
          <p:nvPr/>
        </p:nvSpPr>
        <p:spPr>
          <a:xfrm>
            <a:off x="6035040" y="1371600"/>
            <a:ext cx="2651760" cy="960120"/>
          </a:xfrm>
          <a:prstGeom prst="roundRect">
            <a:avLst>
              <a:gd name="adj" fmla="val 9524"/>
            </a:avLst>
          </a:prstGeom>
          <a:solidFill>
            <a:srgbClr val="E8D3C0"/>
          </a:solidFill>
          <a:ln/>
        </p:spPr>
      </p:sp>
      <p:sp>
        <p:nvSpPr>
          <p:cNvPr id="5" name="Most units number"/>
          <p:cNvSpPr txBox="1"/>
          <p:nvPr/>
        </p:nvSpPr>
        <p:spPr>
          <a:xfrm>
            <a:off x="6199632" y="1426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56 units</a:t>
            </a:r>
            <a:endParaRPr lang="en-US" sz="2600" dirty="0">
              <a:solidFill>
                <a:srgbClr val="3D0A10"/>
              </a:solidFill>
            </a:endParaRPr>
          </a:p>
        </p:txBody>
      </p:sp>
      <p:sp>
        <p:nvSpPr>
          <p:cNvPr id="6" name="Most units label"/>
          <p:cNvSpPr txBox="1"/>
          <p:nvPr/>
        </p:nvSpPr>
        <p:spPr>
          <a:xfrm>
            <a:off x="6199632" y="1847088"/>
            <a:ext cx="2322576" cy="420624"/>
          </a:xfrm>
          <a:prstGeom prst="rect">
            <a:avLst/>
          </a:prstGeom>
          <a:noFill/>
          <a:ln/>
        </p:spPr>
        <p:txBody>
          <a:bodyPr wrap="square" lIns="0" tIns="0" rIns="0" bIns="0" rtlCol="0" anchor="t"/>
          <a:lstStyle/>
          <a:p>
            <a:pPr marL="0" indent="0">
              <a:buNone/>
            </a:pPr>
            <a:r>
              <a:rPr lang="en-US" sz="1300" dirty="0">
                <a:solidFill>
                  <a:srgbClr val="3D0A10"/>
                </a:solidFill>
              </a:rPr>
              <a:t>Office Chair Deluxe sells the most units</a:t>
            </a:r>
          </a:p>
        </p:txBody>
      </p:sp>
      <p:sp>
        <p:nvSpPr>
          <p:cNvPr id="7" name="Most revenue card"/>
          <p:cNvSpPr/>
          <p:nvPr/>
        </p:nvSpPr>
        <p:spPr>
          <a:xfrm>
            <a:off x="6035040" y="2514600"/>
            <a:ext cx="2651760" cy="960120"/>
          </a:xfrm>
          <a:prstGeom prst="roundRect">
            <a:avLst>
              <a:gd name="adj" fmla="val 9524"/>
            </a:avLst>
          </a:prstGeom>
          <a:solidFill>
            <a:srgbClr val="E8D3C0"/>
          </a:solidFill>
          <a:ln/>
        </p:spPr>
      </p:sp>
      <p:sp>
        <p:nvSpPr>
          <p:cNvPr id="8" name="Most revenue number"/>
          <p:cNvSpPr txBox="1"/>
          <p:nvPr/>
        </p:nvSpPr>
        <p:spPr>
          <a:xfrm>
            <a:off x="6199632" y="2569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$40,300</a:t>
            </a:r>
            <a:endParaRPr lang="en-US" sz="2600" dirty="0">
              <a:solidFill>
                <a:srgbClr val="3D0A10"/>
              </a:solidFill>
            </a:endParaRPr>
          </a:p>
        </p:txBody>
      </p:sp>
      <p:sp>
        <p:nvSpPr>
          <p:cNvPr id="9" name="Most revenue label"/>
          <p:cNvSpPr txBox="1"/>
          <p:nvPr/>
        </p:nvSpPr>
        <p:spPr>
          <a:xfrm>
            <a:off x="6199632" y="2990088"/>
            <a:ext cx="2322576" cy="420624"/>
          </a:xfrm>
          <a:prstGeom prst="rect">
            <a:avLst/>
          </a:prstGeom>
          <a:noFill/>
          <a:ln/>
        </p:spPr>
        <p:txBody>
          <a:bodyPr wrap="square" lIns="0" tIns="0" rIns="0" bIns="0" rtlCol="0" anchor="t"/>
          <a:lstStyle/>
          <a:p>
            <a:pPr marL="0" indent="0">
              <a:buNone/>
            </a:pPr>
            <a:r>
              <a:rPr lang="en-US" sz="1300" dirty="0">
                <a:solidFill>
                  <a:srgbClr val="3D0A10"/>
                </a:solidFill>
              </a:rPr>
              <a:t>Laptop Pro 14 earns the most money (31 units)</a:t>
            </a:r>
          </a:p>
        </p:txBody>
      </p:sp>
      <p:sp>
        <p:nvSpPr>
          <p:cNvPr id="10" name="No sales products card"/>
          <p:cNvSpPr/>
          <p:nvPr/>
        </p:nvSpPr>
        <p:spPr>
          <a:xfrm>
            <a:off x="6035040" y="3657600"/>
            <a:ext cx="2651760" cy="960120"/>
          </a:xfrm>
          <a:prstGeom prst="roundRect">
            <a:avLst>
              <a:gd name="adj" fmla="val 9524"/>
            </a:avLst>
          </a:prstGeom>
          <a:solidFill>
            <a:srgbClr val="E8D3C0"/>
          </a:solidFill>
          <a:ln/>
        </p:spPr>
      </p:sp>
      <p:sp>
        <p:nvSpPr>
          <p:cNvPr id="11" name="No sales products number"/>
          <p:cNvSpPr txBox="1"/>
          <p:nvPr/>
        </p:nvSpPr>
        <p:spPr>
          <a:xfrm>
            <a:off x="6199632" y="3712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11 of 25</a:t>
            </a:r>
            <a:endParaRPr lang="en-US" sz="2600" dirty="0">
              <a:solidFill>
                <a:srgbClr val="3D0A10"/>
              </a:solidFill>
            </a:endParaRPr>
          </a:p>
        </p:txBody>
      </p:sp>
      <p:sp>
        <p:nvSpPr>
          <p:cNvPr id="12" name="No sales products label"/>
          <p:cNvSpPr txBox="1"/>
          <p:nvPr/>
        </p:nvSpPr>
        <p:spPr>
          <a:xfrm>
            <a:off x="6199632" y="4133088"/>
            <a:ext cx="2322576" cy="420624"/>
          </a:xfrm>
          <a:prstGeom prst="rect">
            <a:avLst/>
          </a:prstGeom>
          <a:noFill/>
          <a:ln/>
        </p:spPr>
        <p:txBody>
          <a:bodyPr wrap="square" lIns="0" tIns="0" rIns="0" bIns="0" rtlCol="0" anchor="t"/>
          <a:lstStyle/>
          <a:p>
            <a:pPr marL="0" indent="0">
              <a:buNone/>
            </a:pPr>
            <a:r>
              <a:rPr lang="en-US" sz="1300" dirty="0">
                <a:solidFill>
                  <a:srgbClr val="3D0A10"/>
                </a:solidFill>
              </a:rPr>
              <a:t>products had no completed sales</a:t>
            </a: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chemeClr val="tx2"/>
                </a:solidFill>
              </a:rPr>
              <a:t>Electronics leads, March peaked</a:t>
            </a:r>
            <a:endParaRPr lang="en-US" sz="3200" dirty="0"/>
          </a:p>
        </p:txBody>
      </p:sp>
      <p:graphicFrame>
        <p:nvGraphicFramePr>
          <p:cNvPr id="3" name="Monthly sales by category chart"/>
          <p:cNvGraphicFramePr/>
          <p:nvPr>
            <p:extLst>
              <p:ext uri="{D42A27DB-BD31-4B8C-83A1-F6EECF244321}">
                <p14:modId xmlns:p14="http://schemas.microsoft.com/office/powerpoint/2010/main" val="1006240922"/>
              </p:ext>
            </p:extLst>
          </p:nvPr>
        </p:nvGraphicFramePr>
        <p:xfrm>
          <a:off x="457200" y="1325880"/>
          <a:ext cx="56692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March peak card"/>
          <p:cNvSpPr/>
          <p:nvPr/>
        </p:nvSpPr>
        <p:spPr>
          <a:xfrm>
            <a:off x="6400800" y="1371600"/>
            <a:ext cx="2286000" cy="960120"/>
          </a:xfrm>
          <a:prstGeom prst="roundRect">
            <a:avLst>
              <a:gd name="adj" fmla="val 9524"/>
            </a:avLst>
          </a:prstGeom>
          <a:solidFill>
            <a:srgbClr val="E8D3C0"/>
          </a:solidFill>
          <a:ln/>
        </p:spPr>
      </p:sp>
      <p:sp>
        <p:nvSpPr>
          <p:cNvPr id="5" name="March peak number"/>
          <p:cNvSpPr txBox="1"/>
          <p:nvPr/>
        </p:nvSpPr>
        <p:spPr>
          <a:xfrm>
            <a:off x="6565392" y="1426464"/>
            <a:ext cx="1956816" cy="411480"/>
          </a:xfrm>
          <a:prstGeom prst="rect">
            <a:avLst/>
          </a:prstGeom>
          <a:noFill/>
          <a:ln/>
        </p:spPr>
        <p:txBody>
          <a:bodyPr wrap="square" lIns="0" tIns="0" rIns="0" bIns="0" rtlCol="0" anchor="ctr"/>
          <a:lstStyle/>
          <a:p>
            <a:pPr marL="0" indent="0">
              <a:buNone/>
            </a:pPr>
            <a:r>
              <a:rPr lang="en-US" sz="2600" b="1" dirty="0">
                <a:solidFill>
                  <a:srgbClr val="3D0A10"/>
                </a:solidFill>
              </a:rPr>
              <a:t>$26,030</a:t>
            </a:r>
            <a:endParaRPr lang="en-US" sz="2600" dirty="0">
              <a:solidFill>
                <a:srgbClr val="3D0A10"/>
              </a:solidFill>
            </a:endParaRPr>
          </a:p>
        </p:txBody>
      </p:sp>
      <p:sp>
        <p:nvSpPr>
          <p:cNvPr id="6" name="March peak label"/>
          <p:cNvSpPr txBox="1"/>
          <p:nvPr/>
        </p:nvSpPr>
        <p:spPr>
          <a:xfrm>
            <a:off x="6565392" y="1847088"/>
            <a:ext cx="1956816" cy="420624"/>
          </a:xfrm>
          <a:prstGeom prst="rect">
            <a:avLst/>
          </a:prstGeom>
          <a:noFill/>
          <a:ln/>
        </p:spPr>
        <p:txBody>
          <a:bodyPr wrap="square" lIns="0" tIns="0" rIns="0" bIns="0" rtlCol="0" anchor="t"/>
          <a:lstStyle/>
          <a:p>
            <a:pPr marL="0" indent="0">
              <a:buNone/>
            </a:pPr>
            <a:r>
              <a:rPr lang="en-US" sz="1300" dirty="0">
                <a:solidFill>
                  <a:srgbClr val="3D0A10"/>
                </a:solidFill>
              </a:rPr>
              <a:t>in March, up 31.3% on February</a:t>
            </a:r>
          </a:p>
        </p:txBody>
      </p:sp>
      <p:sp>
        <p:nvSpPr>
          <p:cNvPr id="7" name="July drop card"/>
          <p:cNvSpPr/>
          <p:nvPr/>
        </p:nvSpPr>
        <p:spPr>
          <a:xfrm>
            <a:off x="6400800" y="2514600"/>
            <a:ext cx="2286000" cy="960120"/>
          </a:xfrm>
          <a:prstGeom prst="roundRect">
            <a:avLst>
              <a:gd name="adj" fmla="val 9524"/>
            </a:avLst>
          </a:prstGeom>
          <a:solidFill>
            <a:srgbClr val="E8D3C0"/>
          </a:solidFill>
          <a:ln/>
        </p:spPr>
      </p:sp>
      <p:sp>
        <p:nvSpPr>
          <p:cNvPr id="8" name="July drop number"/>
          <p:cNvSpPr txBox="1"/>
          <p:nvPr/>
        </p:nvSpPr>
        <p:spPr>
          <a:xfrm>
            <a:off x="6565392" y="2569464"/>
            <a:ext cx="1956816" cy="411480"/>
          </a:xfrm>
          <a:prstGeom prst="rect">
            <a:avLst/>
          </a:prstGeom>
          <a:noFill/>
          <a:ln/>
        </p:spPr>
        <p:txBody>
          <a:bodyPr wrap="square" lIns="0" tIns="0" rIns="0" bIns="0" rtlCol="0" anchor="ctr"/>
          <a:lstStyle/>
          <a:p>
            <a:pPr marL="0" indent="0">
              <a:buNone/>
            </a:pPr>
            <a:r>
              <a:rPr lang="en-US" sz="2600" b="1" dirty="0">
                <a:solidFill>
                  <a:srgbClr val="B5442E"/>
                </a:solidFill>
              </a:rPr>
              <a:t>$18,510</a:t>
            </a:r>
            <a:endParaRPr lang="en-US" sz="2600" dirty="0">
              <a:solidFill>
                <a:srgbClr val="B5442E"/>
              </a:solidFill>
            </a:endParaRPr>
          </a:p>
        </p:txBody>
      </p:sp>
      <p:sp>
        <p:nvSpPr>
          <p:cNvPr id="9" name="July drop label"/>
          <p:cNvSpPr txBox="1"/>
          <p:nvPr/>
        </p:nvSpPr>
        <p:spPr>
          <a:xfrm>
            <a:off x="6565392" y="2990088"/>
            <a:ext cx="1956816" cy="420624"/>
          </a:xfrm>
          <a:prstGeom prst="rect">
            <a:avLst/>
          </a:prstGeom>
          <a:noFill/>
          <a:ln/>
        </p:spPr>
        <p:txBody>
          <a:bodyPr wrap="square" lIns="0" tIns="0" rIns="0" bIns="0" rtlCol="0" anchor="t"/>
          <a:lstStyle/>
          <a:p>
            <a:pPr marL="0" indent="0">
              <a:buNone/>
            </a:pPr>
            <a:r>
              <a:rPr lang="en-US" sz="1300" dirty="0">
                <a:solidFill>
                  <a:schemeClr val="tx1"/>
                </a:solidFill>
              </a:rPr>
              <a:t>in July, down 16.2% on June</a:t>
            </a:r>
            <a:endParaRPr lang="en-US" sz="1300" dirty="0"/>
          </a:p>
        </p:txBody>
      </p:sp>
      <p:sp>
        <p:nvSpPr>
          <p:cNvPr id="10" name="Top category card"/>
          <p:cNvSpPr/>
          <p:nvPr/>
        </p:nvSpPr>
        <p:spPr>
          <a:xfrm>
            <a:off x="6400800" y="3657600"/>
            <a:ext cx="2286000" cy="960120"/>
          </a:xfrm>
          <a:prstGeom prst="roundRect">
            <a:avLst>
              <a:gd name="adj" fmla="val 9524"/>
            </a:avLst>
          </a:prstGeom>
          <a:solidFill>
            <a:srgbClr val="E8D3C0"/>
          </a:solidFill>
          <a:ln/>
        </p:spPr>
      </p:sp>
      <p:sp>
        <p:nvSpPr>
          <p:cNvPr id="11" name="Top category number"/>
          <p:cNvSpPr txBox="1"/>
          <p:nvPr/>
        </p:nvSpPr>
        <p:spPr>
          <a:xfrm>
            <a:off x="6565392" y="3712464"/>
            <a:ext cx="1956816" cy="411480"/>
          </a:xfrm>
          <a:prstGeom prst="rect">
            <a:avLst/>
          </a:prstGeom>
          <a:noFill/>
          <a:ln/>
        </p:spPr>
        <p:txBody>
          <a:bodyPr wrap="square" lIns="0" tIns="0" rIns="0" bIns="0" rtlCol="0" anchor="ctr"/>
          <a:lstStyle/>
          <a:p>
            <a:pPr marL="0" indent="0">
              <a:buNone/>
            </a:pPr>
            <a:r>
              <a:rPr lang="en-US" sz="2600" b="1" dirty="0">
                <a:solidFill>
                  <a:srgbClr val="3D0A10"/>
                </a:solidFill>
              </a:rPr>
              <a:t>Electronics</a:t>
            </a:r>
            <a:endParaRPr lang="en-US" sz="2600" dirty="0">
              <a:solidFill>
                <a:srgbClr val="3D0A10"/>
              </a:solidFill>
            </a:endParaRPr>
          </a:p>
        </p:txBody>
      </p:sp>
      <p:sp>
        <p:nvSpPr>
          <p:cNvPr id="12" name="Top category label"/>
          <p:cNvSpPr txBox="1"/>
          <p:nvPr/>
        </p:nvSpPr>
        <p:spPr>
          <a:xfrm>
            <a:off x="6565392" y="4133088"/>
            <a:ext cx="1956816" cy="420624"/>
          </a:xfrm>
          <a:prstGeom prst="rect">
            <a:avLst/>
          </a:prstGeom>
          <a:noFill/>
          <a:ln/>
        </p:spPr>
        <p:txBody>
          <a:bodyPr wrap="square" lIns="0" tIns="0" rIns="0" bIns="0" rtlCol="0" anchor="t"/>
          <a:lstStyle/>
          <a:p>
            <a:pPr marL="0" indent="0">
              <a:buNone/>
            </a:pPr>
            <a:r>
              <a:rPr lang="en-US" sz="1300" dirty="0">
                <a:solidFill>
                  <a:srgbClr val="3D0A10"/>
                </a:solidFill>
              </a:rPr>
              <a:t>earns the most every month</a:t>
            </a: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Two regions have no sales reps</a:t>
            </a:r>
            <a:endParaRPr lang="en-US" sz="3200" dirty="0">
              <a:solidFill>
                <a:srgbClr val="3D0A10"/>
              </a:solidFill>
            </a:endParaRPr>
          </a:p>
        </p:txBody>
      </p:sp>
      <p:graphicFrame>
        <p:nvGraphicFramePr>
          <p:cNvPr id="3" name="Revenue by region (amber = no sales reps)"/>
          <p:cNvGraphicFramePr/>
          <p:nvPr>
            <p:extLst>
              <p:ext uri="{D42A27DB-BD31-4B8C-83A1-F6EECF244321}">
                <p14:modId xmlns:p14="http://schemas.microsoft.com/office/powerpoint/2010/main" val="3273839720"/>
              </p:ext>
            </p:extLst>
          </p:nvPr>
        </p:nvGraphicFramePr>
        <p:xfrm>
          <a:off x="457200" y="1325880"/>
          <a:ext cx="53035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No-rep revenue card"/>
          <p:cNvSpPr/>
          <p:nvPr/>
        </p:nvSpPr>
        <p:spPr>
          <a:xfrm>
            <a:off x="6035040" y="1371600"/>
            <a:ext cx="2651760" cy="960120"/>
          </a:xfrm>
          <a:prstGeom prst="roundRect">
            <a:avLst>
              <a:gd name="adj" fmla="val 9524"/>
            </a:avLst>
          </a:prstGeom>
          <a:solidFill>
            <a:srgbClr val="E8D3C0"/>
          </a:solidFill>
          <a:ln/>
        </p:spPr>
      </p:sp>
      <p:sp>
        <p:nvSpPr>
          <p:cNvPr id="5" name="No-rep revenue number"/>
          <p:cNvSpPr txBox="1"/>
          <p:nvPr/>
        </p:nvSpPr>
        <p:spPr>
          <a:xfrm>
            <a:off x="6199632" y="1426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$28,460</a:t>
            </a:r>
            <a:endParaRPr lang="en-US" sz="2600" dirty="0">
              <a:solidFill>
                <a:srgbClr val="3D0A10"/>
              </a:solidFill>
            </a:endParaRPr>
          </a:p>
        </p:txBody>
      </p:sp>
      <p:sp>
        <p:nvSpPr>
          <p:cNvPr id="6" name="No-rep revenue label"/>
          <p:cNvSpPr txBox="1"/>
          <p:nvPr/>
        </p:nvSpPr>
        <p:spPr>
          <a:xfrm>
            <a:off x="6199632" y="1847088"/>
            <a:ext cx="2322576" cy="420624"/>
          </a:xfrm>
          <a:prstGeom prst="rect">
            <a:avLst/>
          </a:prstGeom>
          <a:noFill/>
          <a:ln/>
        </p:spPr>
        <p:txBody>
          <a:bodyPr wrap="square" lIns="0" tIns="0" rIns="0" bIns="0" rtlCol="0" anchor="t"/>
          <a:lstStyle/>
          <a:p>
            <a:pPr marL="0" indent="0">
              <a:buNone/>
            </a:pPr>
            <a:r>
              <a:rPr lang="en-US" sz="1300" dirty="0">
                <a:solidFill>
                  <a:srgbClr val="3D0A10"/>
                </a:solidFill>
              </a:rPr>
              <a:t>earned by Africa and Oceania, which have 0 reps</a:t>
            </a:r>
          </a:p>
        </p:txBody>
      </p:sp>
      <p:sp>
        <p:nvSpPr>
          <p:cNvPr id="7" name="Top region reps card"/>
          <p:cNvSpPr/>
          <p:nvPr/>
        </p:nvSpPr>
        <p:spPr>
          <a:xfrm>
            <a:off x="6035040" y="2514600"/>
            <a:ext cx="2651760" cy="960120"/>
          </a:xfrm>
          <a:prstGeom prst="roundRect">
            <a:avLst>
              <a:gd name="adj" fmla="val 9524"/>
            </a:avLst>
          </a:prstGeom>
          <a:solidFill>
            <a:srgbClr val="E8D3C0"/>
          </a:solidFill>
          <a:ln/>
        </p:spPr>
      </p:sp>
      <p:sp>
        <p:nvSpPr>
          <p:cNvPr id="8" name="Top region reps number"/>
          <p:cNvSpPr txBox="1"/>
          <p:nvPr/>
        </p:nvSpPr>
        <p:spPr>
          <a:xfrm>
            <a:off x="6199632" y="2569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3 reps</a:t>
            </a:r>
            <a:endParaRPr lang="en-US" sz="2600" dirty="0">
              <a:solidFill>
                <a:srgbClr val="3D0A10"/>
              </a:solidFill>
            </a:endParaRPr>
          </a:p>
        </p:txBody>
      </p:sp>
      <p:sp>
        <p:nvSpPr>
          <p:cNvPr id="9" name="Top region reps label"/>
          <p:cNvSpPr txBox="1"/>
          <p:nvPr/>
        </p:nvSpPr>
        <p:spPr>
          <a:xfrm>
            <a:off x="6199632" y="2990088"/>
            <a:ext cx="2322576" cy="420624"/>
          </a:xfrm>
          <a:prstGeom prst="rect">
            <a:avLst/>
          </a:prstGeom>
          <a:noFill/>
          <a:ln/>
        </p:spPr>
        <p:txBody>
          <a:bodyPr wrap="square" lIns="0" tIns="0" rIns="0" bIns="0" rtlCol="0" anchor="t"/>
          <a:lstStyle/>
          <a:p>
            <a:pPr marL="0" indent="0">
              <a:buNone/>
            </a:pPr>
            <a:r>
              <a:rPr lang="en-US" sz="1300" dirty="0">
                <a:solidFill>
                  <a:srgbClr val="3D0A10"/>
                </a:solidFill>
              </a:rPr>
              <a:t>in North America, the top region ($51,830)</a:t>
            </a:r>
          </a:p>
        </p:txBody>
      </p:sp>
      <p:sp>
        <p:nvSpPr>
          <p:cNvPr id="10" name="South America card"/>
          <p:cNvSpPr/>
          <p:nvPr/>
        </p:nvSpPr>
        <p:spPr>
          <a:xfrm>
            <a:off x="6035040" y="3657600"/>
            <a:ext cx="2651760" cy="960120"/>
          </a:xfrm>
          <a:prstGeom prst="roundRect">
            <a:avLst>
              <a:gd name="adj" fmla="val 9524"/>
            </a:avLst>
          </a:prstGeom>
          <a:solidFill>
            <a:srgbClr val="E8D3C0"/>
          </a:solidFill>
          <a:ln/>
        </p:spPr>
      </p:sp>
      <p:sp>
        <p:nvSpPr>
          <p:cNvPr id="11" name="South America number"/>
          <p:cNvSpPr txBox="1"/>
          <p:nvPr/>
        </p:nvSpPr>
        <p:spPr>
          <a:xfrm>
            <a:off x="6199632" y="3712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0 sales</a:t>
            </a:r>
            <a:endParaRPr lang="en-US" sz="2600" dirty="0">
              <a:solidFill>
                <a:srgbClr val="3D0A10"/>
              </a:solidFill>
            </a:endParaRPr>
          </a:p>
        </p:txBody>
      </p:sp>
      <p:sp>
        <p:nvSpPr>
          <p:cNvPr id="12" name="South America label"/>
          <p:cNvSpPr txBox="1"/>
          <p:nvPr/>
        </p:nvSpPr>
        <p:spPr>
          <a:xfrm>
            <a:off x="6199632" y="4133088"/>
            <a:ext cx="2322576" cy="420624"/>
          </a:xfrm>
          <a:prstGeom prst="rect">
            <a:avLst/>
          </a:prstGeom>
          <a:noFill/>
          <a:ln/>
        </p:spPr>
        <p:txBody>
          <a:bodyPr wrap="square" lIns="0" tIns="0" rIns="0" bIns="0" rtlCol="0" anchor="t"/>
          <a:lstStyle/>
          <a:p>
            <a:pPr marL="0" indent="0">
              <a:buNone/>
            </a:pPr>
            <a:r>
              <a:rPr lang="en-US" sz="1300" dirty="0">
                <a:solidFill>
                  <a:srgbClr val="3D0A10"/>
                </a:solidFill>
              </a:rPr>
              <a:t>in South America, which has 1 rep</a:t>
            </a: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Demand is catching up with stock</a:t>
            </a:r>
            <a:endParaRPr lang="en-US" sz="3200" dirty="0">
              <a:solidFill>
                <a:srgbClr val="3D0A10"/>
              </a:solidFill>
            </a:endParaRPr>
          </a:p>
        </p:txBody>
      </p:sp>
      <p:graphicFrame>
        <p:nvGraphicFramePr>
          <p:cNvPr id="3" name="Units sold compared with stock left"/>
          <p:cNvGraphicFramePr/>
          <p:nvPr>
            <p:extLst>
              <p:ext uri="{D42A27DB-BD31-4B8C-83A1-F6EECF244321}">
                <p14:modId xmlns:p14="http://schemas.microsoft.com/office/powerpoint/2010/main" val="173507930"/>
              </p:ext>
            </p:extLst>
          </p:nvPr>
        </p:nvGraphicFramePr>
        <p:xfrm>
          <a:off x="457200" y="1325880"/>
          <a:ext cx="53035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Standing desk ratio card"/>
          <p:cNvSpPr/>
          <p:nvPr/>
        </p:nvSpPr>
        <p:spPr>
          <a:xfrm>
            <a:off x="6035040" y="1371600"/>
            <a:ext cx="2651760" cy="960120"/>
          </a:xfrm>
          <a:prstGeom prst="roundRect">
            <a:avLst>
              <a:gd name="adj" fmla="val 9524"/>
            </a:avLst>
          </a:prstGeom>
          <a:solidFill>
            <a:srgbClr val="E8D3C0"/>
          </a:solidFill>
          <a:ln/>
        </p:spPr>
      </p:sp>
      <p:sp>
        <p:nvSpPr>
          <p:cNvPr id="5" name="Standing desk ratio number"/>
          <p:cNvSpPr txBox="1"/>
          <p:nvPr/>
        </p:nvSpPr>
        <p:spPr>
          <a:xfrm>
            <a:off x="6199632" y="1426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0.90</a:t>
            </a:r>
            <a:endParaRPr lang="en-US" sz="2600" dirty="0">
              <a:solidFill>
                <a:srgbClr val="3D0A10"/>
              </a:solidFill>
            </a:endParaRPr>
          </a:p>
        </p:txBody>
      </p:sp>
      <p:sp>
        <p:nvSpPr>
          <p:cNvPr id="6" name="Standing desk ratio label"/>
          <p:cNvSpPr txBox="1"/>
          <p:nvPr/>
        </p:nvSpPr>
        <p:spPr>
          <a:xfrm>
            <a:off x="6199632" y="1847088"/>
            <a:ext cx="2322576" cy="420624"/>
          </a:xfrm>
          <a:prstGeom prst="rect">
            <a:avLst/>
          </a:prstGeom>
          <a:noFill/>
          <a:ln/>
        </p:spPr>
        <p:txBody>
          <a:bodyPr wrap="square" lIns="0" tIns="0" rIns="0" bIns="0" rtlCol="0" anchor="t"/>
          <a:lstStyle/>
          <a:p>
            <a:pPr marL="0" indent="0">
              <a:buNone/>
            </a:pPr>
            <a:r>
              <a:rPr lang="en-US" sz="1300" dirty="0">
                <a:solidFill>
                  <a:srgbClr val="3D0A10"/>
                </a:solidFill>
              </a:rPr>
              <a:t>Standing Desk: 36 sold, 40 left, restock first</a:t>
            </a:r>
          </a:p>
        </p:txBody>
      </p:sp>
      <p:sp>
        <p:nvSpPr>
          <p:cNvPr id="7" name="Forecast card"/>
          <p:cNvSpPr/>
          <p:nvPr/>
        </p:nvSpPr>
        <p:spPr>
          <a:xfrm>
            <a:off x="6035040" y="2514600"/>
            <a:ext cx="2651760" cy="960120"/>
          </a:xfrm>
          <a:prstGeom prst="roundRect">
            <a:avLst>
              <a:gd name="adj" fmla="val 9524"/>
            </a:avLst>
          </a:prstGeom>
          <a:solidFill>
            <a:srgbClr val="E8D3C0"/>
          </a:solidFill>
          <a:ln/>
        </p:spPr>
      </p:sp>
      <p:sp>
        <p:nvSpPr>
          <p:cNvPr id="8" name="Forecast number"/>
          <p:cNvSpPr txBox="1"/>
          <p:nvPr/>
        </p:nvSpPr>
        <p:spPr>
          <a:xfrm>
            <a:off x="6199632" y="2569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$5,633</a:t>
            </a:r>
            <a:endParaRPr lang="en-US" sz="2600" dirty="0">
              <a:solidFill>
                <a:srgbClr val="3D0A10"/>
              </a:solidFill>
            </a:endParaRPr>
          </a:p>
        </p:txBody>
      </p:sp>
      <p:sp>
        <p:nvSpPr>
          <p:cNvPr id="9" name="Forecast label"/>
          <p:cNvSpPr txBox="1"/>
          <p:nvPr/>
        </p:nvSpPr>
        <p:spPr>
          <a:xfrm>
            <a:off x="6199632" y="2990088"/>
            <a:ext cx="2322576" cy="420624"/>
          </a:xfrm>
          <a:prstGeom prst="rect">
            <a:avLst/>
          </a:prstGeom>
          <a:noFill/>
          <a:ln/>
        </p:spPr>
        <p:txBody>
          <a:bodyPr wrap="square" lIns="0" tIns="0" rIns="0" bIns="0" rtlCol="0" anchor="t"/>
          <a:lstStyle/>
          <a:p>
            <a:pPr marL="0" indent="0">
              <a:buNone/>
            </a:pPr>
            <a:r>
              <a:rPr lang="en-US" sz="1300" dirty="0">
                <a:solidFill>
                  <a:srgbClr val="3D0A10"/>
                </a:solidFill>
              </a:rPr>
              <a:t>estimated Laptop Pro 14 sales next month</a:t>
            </a:r>
          </a:p>
        </p:txBody>
      </p:sp>
      <p:sp>
        <p:nvSpPr>
          <p:cNvPr id="10" name="Anomaly card"/>
          <p:cNvSpPr/>
          <p:nvPr/>
        </p:nvSpPr>
        <p:spPr>
          <a:xfrm>
            <a:off x="6035040" y="3657600"/>
            <a:ext cx="2651760" cy="960120"/>
          </a:xfrm>
          <a:prstGeom prst="roundRect">
            <a:avLst>
              <a:gd name="adj" fmla="val 9524"/>
            </a:avLst>
          </a:prstGeom>
          <a:solidFill>
            <a:srgbClr val="E8D3C0"/>
          </a:solidFill>
          <a:ln/>
        </p:spPr>
      </p:sp>
      <p:sp>
        <p:nvSpPr>
          <p:cNvPr id="11" name="Anomaly number"/>
          <p:cNvSpPr txBox="1"/>
          <p:nvPr/>
        </p:nvSpPr>
        <p:spPr>
          <a:xfrm>
            <a:off x="6199632" y="3712464"/>
            <a:ext cx="2322576" cy="411480"/>
          </a:xfrm>
          <a:prstGeom prst="rect">
            <a:avLst/>
          </a:prstGeom>
          <a:noFill/>
          <a:ln/>
        </p:spPr>
        <p:txBody>
          <a:bodyPr wrap="square" lIns="0" tIns="0" rIns="0" bIns="0" rtlCol="0" anchor="ctr"/>
          <a:lstStyle/>
          <a:p>
            <a:pPr marL="0" indent="0">
              <a:buNone/>
            </a:pPr>
            <a:r>
              <a:rPr lang="en-US" sz="2600" b="1" dirty="0">
                <a:solidFill>
                  <a:srgbClr val="3D0A10"/>
                </a:solidFill>
              </a:rPr>
              <a:t>1</a:t>
            </a:r>
            <a:endParaRPr lang="en-US" sz="2600" dirty="0">
              <a:solidFill>
                <a:srgbClr val="3D0A10"/>
              </a:solidFill>
            </a:endParaRPr>
          </a:p>
        </p:txBody>
      </p:sp>
      <p:sp>
        <p:nvSpPr>
          <p:cNvPr id="12" name="Anomaly label"/>
          <p:cNvSpPr txBox="1"/>
          <p:nvPr/>
        </p:nvSpPr>
        <p:spPr>
          <a:xfrm>
            <a:off x="6199632" y="4133088"/>
            <a:ext cx="2322576" cy="420624"/>
          </a:xfrm>
          <a:prstGeom prst="rect">
            <a:avLst/>
          </a:prstGeom>
          <a:noFill/>
          <a:ln/>
        </p:spPr>
        <p:txBody>
          <a:bodyPr wrap="square" lIns="0" tIns="0" rIns="0" bIns="0" rtlCol="0" anchor="t"/>
          <a:lstStyle/>
          <a:p>
            <a:pPr marL="0" indent="0">
              <a:buNone/>
            </a:pPr>
            <a:r>
              <a:rPr lang="en-US" sz="1300" dirty="0">
                <a:solidFill>
                  <a:srgbClr val="3D0A10"/>
                </a:solidFill>
              </a:rPr>
              <a:t>unusual order: 5 Office Chairs</a:t>
            </a: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65760"/>
            <a:ext cx="8229600" cy="777240"/>
          </a:xfrm>
          <a:prstGeom prst="rect">
            <a:avLst/>
          </a:prstGeom>
          <a:noFill/>
          <a:ln/>
        </p:spPr>
        <p:txBody>
          <a:bodyPr wrap="square" lIns="0" tIns="0" rIns="0" bIns="0" rtlCol="0" anchor="ctr"/>
          <a:lstStyle/>
          <a:p>
            <a:pPr marL="0" indent="0" algn="l">
              <a:buNone/>
            </a:pPr>
            <a:r>
              <a:rPr lang="en-US" sz="3200" b="1" dirty="0">
                <a:solidFill>
                  <a:srgbClr val="3D0A10"/>
                </a:solidFill>
              </a:rPr>
              <a:t>Recommendation</a:t>
            </a:r>
            <a:endParaRPr lang="en-US" sz="3200" dirty="0">
              <a:solidFill>
                <a:srgbClr val="3D0A10"/>
              </a:solidFill>
            </a:endParaRPr>
          </a:p>
        </p:txBody>
      </p:sp>
      <p:sp>
        <p:nvSpPr>
          <p:cNvPr id="3" name="Recommendation card 1"/>
          <p:cNvSpPr/>
          <p:nvPr/>
        </p:nvSpPr>
        <p:spPr>
          <a:xfrm>
            <a:off x="457200" y="1371600"/>
            <a:ext cx="2615184" cy="1463040"/>
          </a:xfrm>
          <a:prstGeom prst="roundRect">
            <a:avLst>
              <a:gd name="adj" fmla="val 6250"/>
            </a:avLst>
          </a:prstGeom>
          <a:solidFill>
            <a:srgbClr val="E8D3C0"/>
          </a:solidFill>
          <a:ln/>
        </p:spPr>
      </p:sp>
      <p:sp>
        <p:nvSpPr>
          <p:cNvPr id="4" name="Recommendation 1 circle"/>
          <p:cNvSpPr/>
          <p:nvPr/>
        </p:nvSpPr>
        <p:spPr>
          <a:xfrm>
            <a:off x="594360" y="1508760"/>
            <a:ext cx="457200" cy="457200"/>
          </a:xfrm>
          <a:prstGeom prst="ellipse">
            <a:avLst/>
          </a:prstGeom>
          <a:solidFill>
            <a:srgbClr val="5A0F14"/>
          </a:solidFill>
          <a:ln/>
        </p:spPr>
      </p:sp>
      <p:pic>
        <p:nvPicPr>
          <p:cNvPr id="5" name="Recommendation 1 icon" descr="Recommendation 1"/>
          <p:cNvPicPr>
            <a:picLocks noChangeAspect="1"/>
          </p:cNvPicPr>
          <p:nvPr/>
        </p:nvPicPr>
        <p:blipFill>
          <a:blip r:embed="rId3"/>
          <a:stretch>
            <a:fillRect/>
          </a:stretch>
        </p:blipFill>
        <p:spPr>
          <a:xfrm>
            <a:off x="708660" y="1623060"/>
            <a:ext cx="228600" cy="228600"/>
          </a:xfrm>
          <a:prstGeom prst="rect">
            <a:avLst/>
          </a:prstGeom>
        </p:spPr>
      </p:pic>
      <p:sp>
        <p:nvSpPr>
          <p:cNvPr id="6" name="Recommendation title 1"/>
          <p:cNvSpPr txBox="1"/>
          <p:nvPr/>
        </p:nvSpPr>
        <p:spPr>
          <a:xfrm>
            <a:off x="1170432" y="1508760"/>
            <a:ext cx="1783080" cy="457200"/>
          </a:xfrm>
          <a:prstGeom prst="rect">
            <a:avLst/>
          </a:prstGeom>
          <a:noFill/>
          <a:ln/>
        </p:spPr>
        <p:txBody>
          <a:bodyPr wrap="square" lIns="0" tIns="0" rIns="0" bIns="0" rtlCol="0" anchor="ctr"/>
          <a:lstStyle/>
          <a:p>
            <a:pPr marL="0" indent="0">
              <a:buNone/>
            </a:pPr>
            <a:r>
              <a:rPr lang="en-US" sz="1500" b="1" dirty="0">
                <a:solidFill>
                  <a:schemeClr val="tx2"/>
                </a:solidFill>
              </a:rPr>
              <a:t>Restock</a:t>
            </a:r>
            <a:endParaRPr lang="en-US" sz="1500" dirty="0"/>
          </a:p>
        </p:txBody>
      </p:sp>
      <p:sp>
        <p:nvSpPr>
          <p:cNvPr id="7" name="Recommendation text 1"/>
          <p:cNvSpPr txBox="1"/>
          <p:nvPr/>
        </p:nvSpPr>
        <p:spPr>
          <a:xfrm>
            <a:off x="594360" y="2084832"/>
            <a:ext cx="2340864" cy="685800"/>
          </a:xfrm>
          <a:prstGeom prst="rect">
            <a:avLst/>
          </a:prstGeom>
          <a:noFill/>
          <a:ln/>
        </p:spPr>
        <p:txBody>
          <a:bodyPr wrap="square" lIns="0" tIns="0" rIns="0" bIns="0" rtlCol="0" anchor="t"/>
          <a:lstStyle/>
          <a:p>
            <a:pPr marL="0" indent="0">
              <a:buNone/>
            </a:pPr>
            <a:r>
              <a:rPr lang="en-US" sz="1400" dirty="0">
                <a:solidFill>
                  <a:schemeClr val="tx1"/>
                </a:solidFill>
              </a:rPr>
              <a:t>Standing Desk, Office Chair Deluxe and Laptop Pro 14</a:t>
            </a:r>
            <a:endParaRPr lang="en-US" sz="1400" dirty="0"/>
          </a:p>
        </p:txBody>
      </p:sp>
      <p:sp>
        <p:nvSpPr>
          <p:cNvPr id="8" name="Recommendation card 2"/>
          <p:cNvSpPr/>
          <p:nvPr/>
        </p:nvSpPr>
        <p:spPr>
          <a:xfrm>
            <a:off x="3264408" y="1371600"/>
            <a:ext cx="2615184" cy="1463040"/>
          </a:xfrm>
          <a:prstGeom prst="roundRect">
            <a:avLst>
              <a:gd name="adj" fmla="val 6250"/>
            </a:avLst>
          </a:prstGeom>
          <a:solidFill>
            <a:srgbClr val="E8D3C0"/>
          </a:solidFill>
          <a:ln/>
        </p:spPr>
      </p:sp>
      <p:sp>
        <p:nvSpPr>
          <p:cNvPr id="9" name="Recommendation 2 circle"/>
          <p:cNvSpPr/>
          <p:nvPr/>
        </p:nvSpPr>
        <p:spPr>
          <a:xfrm>
            <a:off x="3401568" y="1508760"/>
            <a:ext cx="457200" cy="457200"/>
          </a:xfrm>
          <a:prstGeom prst="ellipse">
            <a:avLst/>
          </a:prstGeom>
          <a:solidFill>
            <a:srgbClr val="5A0F14"/>
          </a:solidFill>
          <a:ln/>
        </p:spPr>
      </p:sp>
      <p:pic>
        <p:nvPicPr>
          <p:cNvPr id="10" name="Recommendation 2 icon" descr="Recommendation 2"/>
          <p:cNvPicPr>
            <a:picLocks noChangeAspect="1"/>
          </p:cNvPicPr>
          <p:nvPr/>
        </p:nvPicPr>
        <p:blipFill>
          <a:blip r:embed="rId4"/>
          <a:stretch>
            <a:fillRect/>
          </a:stretch>
        </p:blipFill>
        <p:spPr>
          <a:xfrm>
            <a:off x="3515868" y="1623060"/>
            <a:ext cx="228600" cy="228600"/>
          </a:xfrm>
          <a:prstGeom prst="rect">
            <a:avLst/>
          </a:prstGeom>
        </p:spPr>
      </p:pic>
      <p:sp>
        <p:nvSpPr>
          <p:cNvPr id="11" name="Recommendation title 2"/>
          <p:cNvSpPr txBox="1"/>
          <p:nvPr/>
        </p:nvSpPr>
        <p:spPr>
          <a:xfrm>
            <a:off x="3977640" y="1508760"/>
            <a:ext cx="1783080" cy="457200"/>
          </a:xfrm>
          <a:prstGeom prst="rect">
            <a:avLst/>
          </a:prstGeom>
          <a:noFill/>
          <a:ln/>
        </p:spPr>
        <p:txBody>
          <a:bodyPr wrap="square" lIns="0" tIns="0" rIns="0" bIns="0" rtlCol="0" anchor="ctr"/>
          <a:lstStyle/>
          <a:p>
            <a:pPr marL="0" indent="0">
              <a:buNone/>
            </a:pPr>
            <a:r>
              <a:rPr lang="en-US" sz="1500" b="1" dirty="0">
                <a:solidFill>
                  <a:schemeClr val="tx2"/>
                </a:solidFill>
              </a:rPr>
              <a:t>Add sales reps</a:t>
            </a:r>
            <a:endParaRPr lang="en-US" sz="1500" dirty="0"/>
          </a:p>
        </p:txBody>
      </p:sp>
      <p:sp>
        <p:nvSpPr>
          <p:cNvPr id="12" name="Recommendation text 2"/>
          <p:cNvSpPr txBox="1"/>
          <p:nvPr/>
        </p:nvSpPr>
        <p:spPr>
          <a:xfrm>
            <a:off x="3401568" y="2084832"/>
            <a:ext cx="2340864" cy="685800"/>
          </a:xfrm>
          <a:prstGeom prst="rect">
            <a:avLst/>
          </a:prstGeom>
          <a:noFill/>
          <a:ln/>
        </p:spPr>
        <p:txBody>
          <a:bodyPr wrap="square" lIns="0" tIns="0" rIns="0" bIns="0" rtlCol="0" anchor="t"/>
          <a:lstStyle/>
          <a:p>
            <a:pPr marL="0" indent="0">
              <a:buNone/>
            </a:pPr>
            <a:r>
              <a:rPr lang="en-US" sz="1400" dirty="0">
                <a:solidFill>
                  <a:schemeClr val="tx1"/>
                </a:solidFill>
              </a:rPr>
              <a:t>Assign reps to Africa and Oceania, and review South America</a:t>
            </a:r>
            <a:endParaRPr lang="en-US" sz="1400" dirty="0"/>
          </a:p>
        </p:txBody>
      </p:sp>
      <p:sp>
        <p:nvSpPr>
          <p:cNvPr id="13" name="Recommendation card 3"/>
          <p:cNvSpPr/>
          <p:nvPr/>
        </p:nvSpPr>
        <p:spPr>
          <a:xfrm>
            <a:off x="6071616" y="1371600"/>
            <a:ext cx="2615184" cy="1463040"/>
          </a:xfrm>
          <a:prstGeom prst="roundRect">
            <a:avLst>
              <a:gd name="adj" fmla="val 6250"/>
            </a:avLst>
          </a:prstGeom>
          <a:solidFill>
            <a:srgbClr val="E8D3C0"/>
          </a:solidFill>
          <a:ln/>
        </p:spPr>
      </p:sp>
      <p:sp>
        <p:nvSpPr>
          <p:cNvPr id="14" name="Recommendation 3 circle"/>
          <p:cNvSpPr/>
          <p:nvPr/>
        </p:nvSpPr>
        <p:spPr>
          <a:xfrm>
            <a:off x="6208776" y="1508760"/>
            <a:ext cx="457200" cy="457200"/>
          </a:xfrm>
          <a:prstGeom prst="ellipse">
            <a:avLst/>
          </a:prstGeom>
          <a:solidFill>
            <a:srgbClr val="5A0F14"/>
          </a:solidFill>
          <a:ln/>
        </p:spPr>
      </p:sp>
      <p:pic>
        <p:nvPicPr>
          <p:cNvPr id="15" name="Recommendation 3 icon" descr="Recommendation 3"/>
          <p:cNvPicPr>
            <a:picLocks noChangeAspect="1"/>
          </p:cNvPicPr>
          <p:nvPr/>
        </p:nvPicPr>
        <p:blipFill>
          <a:blip r:embed="rId5"/>
          <a:stretch>
            <a:fillRect/>
          </a:stretch>
        </p:blipFill>
        <p:spPr>
          <a:xfrm>
            <a:off x="6323076" y="1623060"/>
            <a:ext cx="228600" cy="228600"/>
          </a:xfrm>
          <a:prstGeom prst="rect">
            <a:avLst/>
          </a:prstGeom>
        </p:spPr>
      </p:pic>
      <p:sp>
        <p:nvSpPr>
          <p:cNvPr id="16" name="Recommendation title 3"/>
          <p:cNvSpPr txBox="1"/>
          <p:nvPr/>
        </p:nvSpPr>
        <p:spPr>
          <a:xfrm>
            <a:off x="6784848" y="1508760"/>
            <a:ext cx="1783080" cy="457200"/>
          </a:xfrm>
          <a:prstGeom prst="rect">
            <a:avLst/>
          </a:prstGeom>
          <a:noFill/>
          <a:ln/>
        </p:spPr>
        <p:txBody>
          <a:bodyPr wrap="square" lIns="0" tIns="0" rIns="0" bIns="0" rtlCol="0" anchor="ctr"/>
          <a:lstStyle/>
          <a:p>
            <a:pPr marL="0" indent="0">
              <a:buNone/>
            </a:pPr>
            <a:r>
              <a:rPr lang="en-US" sz="1500" b="1" dirty="0">
                <a:solidFill>
                  <a:schemeClr val="tx2"/>
                </a:solidFill>
              </a:rPr>
              <a:t>Win customers back</a:t>
            </a:r>
            <a:endParaRPr lang="en-US" sz="1500" dirty="0"/>
          </a:p>
        </p:txBody>
      </p:sp>
      <p:sp>
        <p:nvSpPr>
          <p:cNvPr id="17" name="Recommendation text 3"/>
          <p:cNvSpPr txBox="1"/>
          <p:nvPr/>
        </p:nvSpPr>
        <p:spPr>
          <a:xfrm>
            <a:off x="6208776" y="2084832"/>
            <a:ext cx="2340864" cy="685800"/>
          </a:xfrm>
          <a:prstGeom prst="rect">
            <a:avLst/>
          </a:prstGeom>
          <a:noFill/>
          <a:ln/>
        </p:spPr>
        <p:txBody>
          <a:bodyPr wrap="square" lIns="0" tIns="0" rIns="0" bIns="0" rtlCol="0" anchor="t"/>
          <a:lstStyle/>
          <a:p>
            <a:pPr marL="0" indent="0">
              <a:buNone/>
            </a:pPr>
            <a:r>
              <a:rPr lang="en-US" sz="1400" dirty="0">
                <a:solidFill>
                  <a:schemeClr val="tx1"/>
                </a:solidFill>
              </a:rPr>
              <a:t>Run a campaign for the 9 inactive customers</a:t>
            </a:r>
            <a:endParaRPr lang="en-US" sz="1400" dirty="0"/>
          </a:p>
        </p:txBody>
      </p:sp>
      <p:sp>
        <p:nvSpPr>
          <p:cNvPr id="18" name="Recommendation card 4"/>
          <p:cNvSpPr/>
          <p:nvPr/>
        </p:nvSpPr>
        <p:spPr>
          <a:xfrm>
            <a:off x="457200" y="3017520"/>
            <a:ext cx="2615184" cy="1463040"/>
          </a:xfrm>
          <a:prstGeom prst="roundRect">
            <a:avLst>
              <a:gd name="adj" fmla="val 6250"/>
            </a:avLst>
          </a:prstGeom>
          <a:solidFill>
            <a:srgbClr val="E8D3C0"/>
          </a:solidFill>
          <a:ln/>
        </p:spPr>
      </p:sp>
      <p:sp>
        <p:nvSpPr>
          <p:cNvPr id="19" name="Recommendation 4 circle"/>
          <p:cNvSpPr/>
          <p:nvPr/>
        </p:nvSpPr>
        <p:spPr>
          <a:xfrm>
            <a:off x="594360" y="3154680"/>
            <a:ext cx="457200" cy="457200"/>
          </a:xfrm>
          <a:prstGeom prst="ellipse">
            <a:avLst/>
          </a:prstGeom>
          <a:solidFill>
            <a:srgbClr val="5A0F14"/>
          </a:solidFill>
          <a:ln/>
        </p:spPr>
      </p:sp>
      <p:pic>
        <p:nvPicPr>
          <p:cNvPr id="20" name="Recommendation 4 icon" descr="Recommendation 4"/>
          <p:cNvPicPr>
            <a:picLocks noChangeAspect="1"/>
          </p:cNvPicPr>
          <p:nvPr/>
        </p:nvPicPr>
        <p:blipFill>
          <a:blip r:embed="rId6"/>
          <a:stretch>
            <a:fillRect/>
          </a:stretch>
        </p:blipFill>
        <p:spPr>
          <a:xfrm>
            <a:off x="708660" y="3268980"/>
            <a:ext cx="228600" cy="228600"/>
          </a:xfrm>
          <a:prstGeom prst="rect">
            <a:avLst/>
          </a:prstGeom>
        </p:spPr>
      </p:pic>
      <p:sp>
        <p:nvSpPr>
          <p:cNvPr id="21" name="Recommendation title 4"/>
          <p:cNvSpPr txBox="1"/>
          <p:nvPr/>
        </p:nvSpPr>
        <p:spPr>
          <a:xfrm>
            <a:off x="1170432" y="3154680"/>
            <a:ext cx="1783080" cy="457200"/>
          </a:xfrm>
          <a:prstGeom prst="rect">
            <a:avLst/>
          </a:prstGeom>
          <a:noFill/>
          <a:ln/>
        </p:spPr>
        <p:txBody>
          <a:bodyPr wrap="square" lIns="0" tIns="0" rIns="0" bIns="0" rtlCol="0" anchor="ctr"/>
          <a:lstStyle/>
          <a:p>
            <a:pPr marL="0" indent="0">
              <a:buNone/>
            </a:pPr>
            <a:r>
              <a:rPr lang="en-US" sz="1500" b="1" dirty="0">
                <a:solidFill>
                  <a:schemeClr val="tx2"/>
                </a:solidFill>
              </a:rPr>
              <a:t>Close Pending orders</a:t>
            </a:r>
            <a:endParaRPr lang="en-US" sz="1500" dirty="0"/>
          </a:p>
        </p:txBody>
      </p:sp>
      <p:sp>
        <p:nvSpPr>
          <p:cNvPr id="22" name="Recommendation text 4"/>
          <p:cNvSpPr txBox="1"/>
          <p:nvPr/>
        </p:nvSpPr>
        <p:spPr>
          <a:xfrm>
            <a:off x="594360" y="3730752"/>
            <a:ext cx="2340864" cy="685800"/>
          </a:xfrm>
          <a:prstGeom prst="rect">
            <a:avLst/>
          </a:prstGeom>
          <a:noFill/>
          <a:ln/>
        </p:spPr>
        <p:txBody>
          <a:bodyPr wrap="square" lIns="0" tIns="0" rIns="0" bIns="0" rtlCol="0" anchor="t"/>
          <a:lstStyle/>
          <a:p>
            <a:pPr marL="0" indent="0">
              <a:buNone/>
            </a:pPr>
            <a:r>
              <a:rPr lang="en-US" sz="1400" dirty="0">
                <a:solidFill>
                  <a:schemeClr val="tx1"/>
                </a:solidFill>
              </a:rPr>
              <a:t>Follow up the 42 Pending orders to turn them into sales</a:t>
            </a:r>
            <a:endParaRPr lang="en-US" sz="1400" dirty="0"/>
          </a:p>
        </p:txBody>
      </p:sp>
      <p:sp>
        <p:nvSpPr>
          <p:cNvPr id="23" name="Recommendation card 5"/>
          <p:cNvSpPr/>
          <p:nvPr/>
        </p:nvSpPr>
        <p:spPr>
          <a:xfrm>
            <a:off x="3264408" y="3017520"/>
            <a:ext cx="2615184" cy="1463040"/>
          </a:xfrm>
          <a:prstGeom prst="roundRect">
            <a:avLst>
              <a:gd name="adj" fmla="val 6250"/>
            </a:avLst>
          </a:prstGeom>
          <a:solidFill>
            <a:srgbClr val="E8D3C0"/>
          </a:solidFill>
          <a:ln/>
        </p:spPr>
      </p:sp>
      <p:sp>
        <p:nvSpPr>
          <p:cNvPr id="24" name="Recommendation 5 circle"/>
          <p:cNvSpPr/>
          <p:nvPr/>
        </p:nvSpPr>
        <p:spPr>
          <a:xfrm>
            <a:off x="3401568" y="3154680"/>
            <a:ext cx="457200" cy="457200"/>
          </a:xfrm>
          <a:prstGeom prst="ellipse">
            <a:avLst/>
          </a:prstGeom>
          <a:solidFill>
            <a:srgbClr val="5A0F14"/>
          </a:solidFill>
          <a:ln/>
        </p:spPr>
      </p:sp>
      <p:pic>
        <p:nvPicPr>
          <p:cNvPr id="25" name="Recommendation 5 icon" descr="Recommendation 5"/>
          <p:cNvPicPr>
            <a:picLocks noChangeAspect="1"/>
          </p:cNvPicPr>
          <p:nvPr/>
        </p:nvPicPr>
        <p:blipFill>
          <a:blip r:embed="rId7"/>
          <a:stretch>
            <a:fillRect/>
          </a:stretch>
        </p:blipFill>
        <p:spPr>
          <a:xfrm>
            <a:off x="3515868" y="3268980"/>
            <a:ext cx="228600" cy="228600"/>
          </a:xfrm>
          <a:prstGeom prst="rect">
            <a:avLst/>
          </a:prstGeom>
        </p:spPr>
      </p:pic>
      <p:sp>
        <p:nvSpPr>
          <p:cNvPr id="26" name="Recommendation title 5"/>
          <p:cNvSpPr txBox="1"/>
          <p:nvPr/>
        </p:nvSpPr>
        <p:spPr>
          <a:xfrm>
            <a:off x="3977640" y="3154680"/>
            <a:ext cx="1783080" cy="457200"/>
          </a:xfrm>
          <a:prstGeom prst="rect">
            <a:avLst/>
          </a:prstGeom>
          <a:noFill/>
          <a:ln/>
        </p:spPr>
        <p:txBody>
          <a:bodyPr wrap="square" lIns="0" tIns="0" rIns="0" bIns="0" rtlCol="0" anchor="ctr"/>
          <a:lstStyle/>
          <a:p>
            <a:pPr marL="0" indent="0">
              <a:buNone/>
            </a:pPr>
            <a:r>
              <a:rPr lang="en-US" sz="1500" b="1" dirty="0">
                <a:solidFill>
                  <a:schemeClr val="tx2"/>
                </a:solidFill>
              </a:rPr>
              <a:t>Review slow products</a:t>
            </a:r>
            <a:endParaRPr lang="en-US" sz="1500" dirty="0"/>
          </a:p>
        </p:txBody>
      </p:sp>
      <p:sp>
        <p:nvSpPr>
          <p:cNvPr id="27" name="Recommendation text 5"/>
          <p:cNvSpPr txBox="1"/>
          <p:nvPr/>
        </p:nvSpPr>
        <p:spPr>
          <a:xfrm>
            <a:off x="3401568" y="3730752"/>
            <a:ext cx="2340864" cy="685800"/>
          </a:xfrm>
          <a:prstGeom prst="rect">
            <a:avLst/>
          </a:prstGeom>
          <a:noFill/>
          <a:ln/>
        </p:spPr>
        <p:txBody>
          <a:bodyPr wrap="square" lIns="0" tIns="0" rIns="0" bIns="0" rtlCol="0" anchor="t"/>
          <a:lstStyle/>
          <a:p>
            <a:pPr marL="0" indent="0">
              <a:buNone/>
            </a:pPr>
            <a:r>
              <a:rPr lang="en-US" sz="1400" dirty="0">
                <a:solidFill>
                  <a:schemeClr val="tx1"/>
                </a:solidFill>
              </a:rPr>
              <a:t>Promote, discount or drop the 11 products with no sales</a:t>
            </a:r>
            <a:endParaRPr lang="en-US" sz="1400" dirty="0"/>
          </a:p>
        </p:txBody>
      </p:sp>
      <p:sp>
        <p:nvSpPr>
          <p:cNvPr id="28" name="Recommendation card 6"/>
          <p:cNvSpPr/>
          <p:nvPr/>
        </p:nvSpPr>
        <p:spPr>
          <a:xfrm>
            <a:off x="6071616" y="3017520"/>
            <a:ext cx="2615184" cy="1463040"/>
          </a:xfrm>
          <a:prstGeom prst="roundRect">
            <a:avLst>
              <a:gd name="adj" fmla="val 6250"/>
            </a:avLst>
          </a:prstGeom>
          <a:solidFill>
            <a:srgbClr val="E8D3C0"/>
          </a:solidFill>
          <a:ln/>
        </p:spPr>
      </p:sp>
      <p:sp>
        <p:nvSpPr>
          <p:cNvPr id="29" name="Recommendation 6 circle"/>
          <p:cNvSpPr/>
          <p:nvPr/>
        </p:nvSpPr>
        <p:spPr>
          <a:xfrm>
            <a:off x="6208776" y="3154680"/>
            <a:ext cx="457200" cy="457200"/>
          </a:xfrm>
          <a:prstGeom prst="ellipse">
            <a:avLst/>
          </a:prstGeom>
          <a:solidFill>
            <a:srgbClr val="5A0F14"/>
          </a:solidFill>
          <a:ln/>
        </p:spPr>
      </p:sp>
      <p:pic>
        <p:nvPicPr>
          <p:cNvPr id="30" name="Recommendation 6 icon" descr="Recommendation 6"/>
          <p:cNvPicPr>
            <a:picLocks noChangeAspect="1"/>
          </p:cNvPicPr>
          <p:nvPr/>
        </p:nvPicPr>
        <p:blipFill>
          <a:blip r:embed="rId8"/>
          <a:stretch>
            <a:fillRect/>
          </a:stretch>
        </p:blipFill>
        <p:spPr>
          <a:xfrm>
            <a:off x="6323076" y="3268980"/>
            <a:ext cx="228600" cy="228600"/>
          </a:xfrm>
          <a:prstGeom prst="rect">
            <a:avLst/>
          </a:prstGeom>
        </p:spPr>
      </p:pic>
      <p:sp>
        <p:nvSpPr>
          <p:cNvPr id="31" name="Recommendation title 6"/>
          <p:cNvSpPr txBox="1"/>
          <p:nvPr/>
        </p:nvSpPr>
        <p:spPr>
          <a:xfrm>
            <a:off x="6784848" y="3154680"/>
            <a:ext cx="1783080" cy="457200"/>
          </a:xfrm>
          <a:prstGeom prst="rect">
            <a:avLst/>
          </a:prstGeom>
          <a:noFill/>
          <a:ln/>
        </p:spPr>
        <p:txBody>
          <a:bodyPr wrap="square" lIns="0" tIns="0" rIns="0" bIns="0" rtlCol="0" anchor="ctr"/>
          <a:lstStyle/>
          <a:p>
            <a:pPr marL="0" indent="0">
              <a:buNone/>
            </a:pPr>
            <a:r>
              <a:rPr lang="en-US" sz="1500" b="1" dirty="0">
                <a:solidFill>
                  <a:schemeClr val="tx2"/>
                </a:solidFill>
              </a:rPr>
              <a:t>Investigate the dip</a:t>
            </a:r>
            <a:endParaRPr lang="en-US" sz="1500" dirty="0"/>
          </a:p>
        </p:txBody>
      </p:sp>
      <p:sp>
        <p:nvSpPr>
          <p:cNvPr id="32" name="Recommendation text 6"/>
          <p:cNvSpPr txBox="1"/>
          <p:nvPr/>
        </p:nvSpPr>
        <p:spPr>
          <a:xfrm>
            <a:off x="6208776" y="3730752"/>
            <a:ext cx="2340864" cy="685800"/>
          </a:xfrm>
          <a:prstGeom prst="rect">
            <a:avLst/>
          </a:prstGeom>
          <a:noFill/>
          <a:ln/>
        </p:spPr>
        <p:txBody>
          <a:bodyPr wrap="square" lIns="0" tIns="0" rIns="0" bIns="0" rtlCol="0" anchor="t"/>
          <a:lstStyle/>
          <a:p>
            <a:pPr marL="0" indent="0">
              <a:buNone/>
            </a:pPr>
            <a:r>
              <a:rPr lang="en-US" sz="1400" dirty="0">
                <a:solidFill>
                  <a:schemeClr val="tx1"/>
                </a:solidFill>
              </a:rPr>
              <a:t>Find out why sales fell after March, and check July data</a:t>
            </a:r>
            <a:endParaRPr lang="en-US" sz="14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4A657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0A10"/>
        </a:solidFill>
        <a:effectLst/>
      </p:bgPr>
    </p:bg>
    <p:spTree>
      <p:nvGrpSpPr>
        <p:cNvPr id="1" name=""/>
        <p:cNvGrpSpPr/>
        <p:nvPr/>
      </p:nvGrpSpPr>
      <p:grpSpPr>
        <a:xfrm>
          <a:off x="0" y="0"/>
          <a:ext cx="0" cy="0"/>
          <a:chOff x="0" y="0"/>
          <a:chExt cx="0" cy="0"/>
        </a:xfrm>
      </p:grpSpPr>
      <p:sp>
        <p:nvSpPr>
          <p:cNvPr id="2" name="Decor large circle"/>
          <p:cNvSpPr/>
          <p:nvPr/>
        </p:nvSpPr>
        <p:spPr>
          <a:xfrm>
            <a:off x="5352870" y="1493157"/>
            <a:ext cx="3558903" cy="3599543"/>
          </a:xfrm>
          <a:prstGeom prst="ellipse">
            <a:avLst/>
          </a:prstGeom>
          <a:solidFill>
            <a:srgbClr val="B98080">
              <a:alpha val="45000"/>
            </a:srgbClr>
          </a:solidFill>
          <a:ln/>
        </p:spPr>
        <p:txBody>
          <a:bodyPr/>
          <a:lstStyle/>
          <a:p>
            <a:endParaRPr lang="en-US" dirty="0"/>
          </a:p>
        </p:txBody>
      </p:sp>
      <p:sp>
        <p:nvSpPr>
          <p:cNvPr id="3" name="Decor small circle"/>
          <p:cNvSpPr/>
          <p:nvPr/>
        </p:nvSpPr>
        <p:spPr>
          <a:xfrm>
            <a:off x="6132285" y="3432628"/>
            <a:ext cx="1284514" cy="1200329"/>
          </a:xfrm>
          <a:prstGeom prst="ellipse">
            <a:avLst/>
          </a:prstGeom>
          <a:solidFill>
            <a:srgbClr val="D9B38C">
              <a:alpha val="90000"/>
            </a:srgbClr>
          </a:solidFill>
          <a:ln/>
        </p:spPr>
        <p:txBody>
          <a:bodyPr/>
          <a:lstStyle/>
          <a:p>
            <a:endParaRPr lang="en-US" dirty="0"/>
          </a:p>
        </p:txBody>
      </p:sp>
      <p:sp>
        <p:nvSpPr>
          <p:cNvPr id="4" name="Text 0"/>
          <p:cNvSpPr>
            <a:spLocks noGrp="1"/>
          </p:cNvSpPr>
          <p:nvPr>
            <p:ph type="title" idx="100" hasCustomPrompt="1"/>
          </p:nvPr>
        </p:nvSpPr>
        <p:spPr>
          <a:xfrm>
            <a:off x="640080" y="1371600"/>
            <a:ext cx="7863840" cy="1097280"/>
          </a:xfrm>
          <a:prstGeom prst="rect">
            <a:avLst/>
          </a:prstGeom>
          <a:noFill/>
          <a:ln/>
        </p:spPr>
        <p:txBody>
          <a:bodyPr wrap="square" lIns="0" tIns="0" rIns="0" bIns="0" rtlCol="0" anchor="b"/>
          <a:lstStyle/>
          <a:p>
            <a:pPr marL="0" indent="0" algn="l">
              <a:buNone/>
            </a:pPr>
            <a:r>
              <a:rPr lang="en-US" sz="4400" b="1" dirty="0">
                <a:solidFill>
                  <a:schemeClr val="bg1"/>
                </a:solidFill>
              </a:rPr>
              <a:t>Thank you</a:t>
            </a:r>
            <a:endParaRPr lang="en-US" sz="4400" dirty="0"/>
          </a:p>
        </p:txBody>
      </p:sp>
      <p:sp>
        <p:nvSpPr>
          <p:cNvPr id="5" name="Text 0"/>
          <p:cNvSpPr>
            <a:spLocks noGrp="1"/>
          </p:cNvSpPr>
          <p:nvPr>
            <p:ph type="body" idx="101" hasCustomPrompt="1"/>
          </p:nvPr>
        </p:nvSpPr>
        <p:spPr>
          <a:xfrm>
            <a:off x="640080" y="2651760"/>
            <a:ext cx="7863840" cy="1097280"/>
          </a:xfrm>
          <a:prstGeom prst="rect">
            <a:avLst/>
          </a:prstGeom>
          <a:noFill/>
          <a:ln/>
        </p:spPr>
        <p:txBody>
          <a:bodyPr wrap="square" lIns="0" tIns="0" rIns="0" bIns="0" rtlCol="0" anchor="t"/>
          <a:lstStyle/>
          <a:p>
            <a:pPr marL="0" indent="0" algn="l">
              <a:buNone/>
            </a:pPr>
            <a:r>
              <a:rPr lang="en-US" sz="2000" dirty="0"/>
              <a:t>.</a:t>
            </a:r>
          </a:p>
        </p:txBody>
      </p:sp>
    </p:spTree>
  </p:cSld>
  <p:clrMapOvr>
    <a:masterClrMapping/>
  </p:clrMapOvr>
</p:sld>
</file>

<file path=ppt/theme/theme1.xml><?xml version="1.0" encoding="utf-8"?>
<a:theme xmlns:a="http://schemas.openxmlformats.org/drawingml/2006/main" name="TechStore Analysis">
  <a:themeElements>
    <a:clrScheme name="TechStore Analysis">
      <a:dk1>
        <a:srgbClr val="16262B"/>
      </a:dk1>
      <a:lt1>
        <a:srgbClr val="FFFFFF"/>
      </a:lt1>
      <a:dk2>
        <a:srgbClr val="0B3C49"/>
      </a:dk2>
      <a:lt2>
        <a:srgbClr val="EAF4F4"/>
      </a:lt2>
      <a:accent1>
        <a:srgbClr val="1C7C7D"/>
      </a:accent1>
      <a:accent2>
        <a:srgbClr val="F2A541"/>
      </a:accent2>
      <a:accent3>
        <a:srgbClr val="6FB7B7"/>
      </a:accent3>
      <a:accent4>
        <a:srgbClr val="D95D39"/>
      </a:accent4>
      <a:accent5>
        <a:srgbClr val="5B7C8D"/>
      </a:accent5>
      <a:accent6>
        <a:srgbClr val="9BC53D"/>
      </a:accent6>
      <a:hlink>
        <a:srgbClr val="1C7C7D"/>
      </a:hlink>
      <a:folHlink>
        <a:srgbClr val="5B7C8D"/>
      </a:folHlink>
    </a:clrScheme>
    <a:fontScheme name="TechStore Analy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948</TotalTime>
  <Words>1547</Words>
  <Application>Microsoft Office PowerPoint</Application>
  <PresentationFormat>On-screen Show (16:9)</PresentationFormat>
  <Paragraphs>128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TechStore Analysis</vt:lpstr>
      <vt:lpstr>TechStore Inc. Sales Analysis</vt:lpstr>
      <vt:lpstr>What management wants to know</vt:lpstr>
      <vt:lpstr>$147,140 in revenue from 163 orders</vt:lpstr>
      <vt:lpstr>Ten customers drive 86% of sales</vt:lpstr>
      <vt:lpstr>Ages 25-44 bring in 92% of sales</vt:lpstr>
      <vt:lpstr>Top sellers are not top earners</vt:lpstr>
      <vt:lpstr>Electronics leads, March peaked</vt:lpstr>
      <vt:lpstr>Two regions have no sales reps</vt:lpstr>
      <vt:lpstr>Demand is catching up with stock</vt:lpstr>
      <vt:lpstr>Recommendation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TechStore Inc. - Customer &amp; Sales Analysis Using SQL</dc:title>
  <dc:subject>PptxGenJS Presentation</dc:subject>
  <dc:creator>Kubiat Etuk</dc:creator>
  <cp:lastModifiedBy>Pretty Evil❤️</cp:lastModifiedBy>
  <cp:revision>2</cp:revision>
  <dcterms:created xsi:type="dcterms:W3CDTF">2026-10-21T10:21:35Z</dcterms:created>
  <dcterms:modified xsi:type="dcterms:W3CDTF">2026-10-22T17:52:18Z</dcterms:modified>
</cp:coreProperties>
</file>